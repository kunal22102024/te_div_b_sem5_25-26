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7" r:id="rId3"/>
    <p:sldId id="264" r:id="rId4"/>
    <p:sldId id="258" r:id="rId5"/>
    <p:sldId id="263" r:id="rId6"/>
    <p:sldId id="273" r:id="rId7"/>
    <p:sldId id="274" r:id="rId8"/>
    <p:sldId id="259" r:id="rId9"/>
    <p:sldId id="280" r:id="rId10"/>
    <p:sldId id="275" r:id="rId11"/>
    <p:sldId id="261" r:id="rId12"/>
    <p:sldId id="290" r:id="rId13"/>
    <p:sldId id="277" r:id="rId14"/>
    <p:sldId id="289" r:id="rId15"/>
    <p:sldId id="288" r:id="rId16"/>
    <p:sldId id="286" r:id="rId17"/>
    <p:sldId id="285" r:id="rId18"/>
    <p:sldId id="281" r:id="rId19"/>
    <p:sldId id="282" r:id="rId20"/>
    <p:sldId id="26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798" autoAdjust="0"/>
    <p:restoredTop sz="94660"/>
  </p:normalViewPr>
  <p:slideViewPr>
    <p:cSldViewPr snapToGrid="0">
      <p:cViewPr varScale="1">
        <p:scale>
          <a:sx n="92" d="100"/>
          <a:sy n="92" d="100"/>
        </p:scale>
        <p:origin x="67" y="19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1A4F5-B9E5-44F7-83F8-F093209D90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205C452-C2FF-4E97-9371-DB09FF1C58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2049D1E-E8F1-46EB-9EF0-68F593568DB4}"/>
              </a:ext>
            </a:extLst>
          </p:cNvPr>
          <p:cNvSpPr>
            <a:spLocks noGrp="1"/>
          </p:cNvSpPr>
          <p:nvPr>
            <p:ph type="dt" sz="half" idx="10"/>
          </p:nvPr>
        </p:nvSpPr>
        <p:spPr/>
        <p:txBody>
          <a:bodyPr/>
          <a:lstStyle/>
          <a:p>
            <a:fld id="{8BEDB7D2-4BE7-404A-9A81-2617C8CA2523}" type="datetimeFigureOut">
              <a:rPr lang="en-IN" smtClean="0"/>
              <a:t>09-10-2025</a:t>
            </a:fld>
            <a:endParaRPr lang="en-IN"/>
          </a:p>
        </p:txBody>
      </p:sp>
      <p:sp>
        <p:nvSpPr>
          <p:cNvPr id="5" name="Footer Placeholder 4">
            <a:extLst>
              <a:ext uri="{FF2B5EF4-FFF2-40B4-BE49-F238E27FC236}">
                <a16:creationId xmlns:a16="http://schemas.microsoft.com/office/drawing/2014/main" id="{133F74F6-7563-46AA-91D5-FC0DF50EFF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480687-189A-4715-9085-F1A0E345D31F}"/>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22970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E6BEC-030A-4E6D-9969-92EE75E512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A6195B-A102-441D-AB65-54906485830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58AC6F-26F4-4751-A032-A4B379981E0B}"/>
              </a:ext>
            </a:extLst>
          </p:cNvPr>
          <p:cNvSpPr>
            <a:spLocks noGrp="1"/>
          </p:cNvSpPr>
          <p:nvPr>
            <p:ph type="dt" sz="half" idx="10"/>
          </p:nvPr>
        </p:nvSpPr>
        <p:spPr/>
        <p:txBody>
          <a:bodyPr/>
          <a:lstStyle/>
          <a:p>
            <a:fld id="{8BEDB7D2-4BE7-404A-9A81-2617C8CA2523}" type="datetimeFigureOut">
              <a:rPr lang="en-IN" smtClean="0"/>
              <a:t>09-10-2025</a:t>
            </a:fld>
            <a:endParaRPr lang="en-IN"/>
          </a:p>
        </p:txBody>
      </p:sp>
      <p:sp>
        <p:nvSpPr>
          <p:cNvPr id="5" name="Footer Placeholder 4">
            <a:extLst>
              <a:ext uri="{FF2B5EF4-FFF2-40B4-BE49-F238E27FC236}">
                <a16:creationId xmlns:a16="http://schemas.microsoft.com/office/drawing/2014/main" id="{FDE46025-2537-4556-A76A-2BAB1450B5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2206D1-BD2D-44D5-8059-780C40F1AE37}"/>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2757297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C5A34-8783-4D4C-BB3E-77884101F6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F94A547-CC48-4861-9FBC-3CE0C99F1B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7DE8568-3879-48D6-8C00-EEDEA451AFEE}"/>
              </a:ext>
            </a:extLst>
          </p:cNvPr>
          <p:cNvSpPr>
            <a:spLocks noGrp="1"/>
          </p:cNvSpPr>
          <p:nvPr>
            <p:ph type="dt" sz="half" idx="10"/>
          </p:nvPr>
        </p:nvSpPr>
        <p:spPr/>
        <p:txBody>
          <a:bodyPr/>
          <a:lstStyle/>
          <a:p>
            <a:fld id="{8BEDB7D2-4BE7-404A-9A81-2617C8CA2523}" type="datetimeFigureOut">
              <a:rPr lang="en-IN" smtClean="0"/>
              <a:t>09-10-2025</a:t>
            </a:fld>
            <a:endParaRPr lang="en-IN"/>
          </a:p>
        </p:txBody>
      </p:sp>
      <p:sp>
        <p:nvSpPr>
          <p:cNvPr id="5" name="Footer Placeholder 4">
            <a:extLst>
              <a:ext uri="{FF2B5EF4-FFF2-40B4-BE49-F238E27FC236}">
                <a16:creationId xmlns:a16="http://schemas.microsoft.com/office/drawing/2014/main" id="{6B032B22-67E7-4998-B79E-C6955AAE66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E5FF4C-342F-46D7-811D-72F9969B7129}"/>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1028992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9E841-E5B4-43DD-86D7-3204C68409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0C0581-72C5-4C86-9114-96483F83063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080655-4B08-477E-849C-11C8DE87371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55DF952-35EE-41D4-B3AF-038D59CB426E}"/>
              </a:ext>
            </a:extLst>
          </p:cNvPr>
          <p:cNvSpPr>
            <a:spLocks noGrp="1"/>
          </p:cNvSpPr>
          <p:nvPr>
            <p:ph type="dt" sz="half" idx="10"/>
          </p:nvPr>
        </p:nvSpPr>
        <p:spPr/>
        <p:txBody>
          <a:bodyPr/>
          <a:lstStyle/>
          <a:p>
            <a:fld id="{8BEDB7D2-4BE7-404A-9A81-2617C8CA2523}" type="datetimeFigureOut">
              <a:rPr lang="en-IN" smtClean="0"/>
              <a:t>09-10-2025</a:t>
            </a:fld>
            <a:endParaRPr lang="en-IN"/>
          </a:p>
        </p:txBody>
      </p:sp>
      <p:sp>
        <p:nvSpPr>
          <p:cNvPr id="6" name="Footer Placeholder 5">
            <a:extLst>
              <a:ext uri="{FF2B5EF4-FFF2-40B4-BE49-F238E27FC236}">
                <a16:creationId xmlns:a16="http://schemas.microsoft.com/office/drawing/2014/main" id="{DADEB505-5818-4156-A303-A88A5CBBED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0E5833-A747-47A0-B3ED-6C83ACDC63E6}"/>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1833957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F360E-67B2-45B8-8E75-02239C18640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12A64C-4B0C-4E1F-A884-8D59AC57E4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79FECC5-7095-4F96-8C95-BD90EC661E6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3249CCA-44F9-4E1E-8ECD-88AD6A83B0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96564B4-E97F-4CBC-A9C8-11AE4624F0A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80ED60C-B6A8-40E4-A53C-B9E09CB1DC83}"/>
              </a:ext>
            </a:extLst>
          </p:cNvPr>
          <p:cNvSpPr>
            <a:spLocks noGrp="1"/>
          </p:cNvSpPr>
          <p:nvPr>
            <p:ph type="dt" sz="half" idx="10"/>
          </p:nvPr>
        </p:nvSpPr>
        <p:spPr/>
        <p:txBody>
          <a:bodyPr/>
          <a:lstStyle/>
          <a:p>
            <a:fld id="{8BEDB7D2-4BE7-404A-9A81-2617C8CA2523}" type="datetimeFigureOut">
              <a:rPr lang="en-IN" smtClean="0"/>
              <a:t>09-10-2025</a:t>
            </a:fld>
            <a:endParaRPr lang="en-IN"/>
          </a:p>
        </p:txBody>
      </p:sp>
      <p:sp>
        <p:nvSpPr>
          <p:cNvPr id="8" name="Footer Placeholder 7">
            <a:extLst>
              <a:ext uri="{FF2B5EF4-FFF2-40B4-BE49-F238E27FC236}">
                <a16:creationId xmlns:a16="http://schemas.microsoft.com/office/drawing/2014/main" id="{3459983C-2723-430D-9F3A-72DDF4177B6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7F53EEF-FD56-4F9A-8C7A-7CC15D6D5DFF}"/>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2675103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5D9CA-93EA-4384-AA88-2E0F70E618E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A2EDB73-CADB-4302-A8E9-2DC8BC85BBB9}"/>
              </a:ext>
            </a:extLst>
          </p:cNvPr>
          <p:cNvSpPr>
            <a:spLocks noGrp="1"/>
          </p:cNvSpPr>
          <p:nvPr>
            <p:ph type="dt" sz="half" idx="10"/>
          </p:nvPr>
        </p:nvSpPr>
        <p:spPr/>
        <p:txBody>
          <a:bodyPr/>
          <a:lstStyle/>
          <a:p>
            <a:fld id="{8BEDB7D2-4BE7-404A-9A81-2617C8CA2523}" type="datetimeFigureOut">
              <a:rPr lang="en-IN" smtClean="0"/>
              <a:t>09-10-2025</a:t>
            </a:fld>
            <a:endParaRPr lang="en-IN"/>
          </a:p>
        </p:txBody>
      </p:sp>
      <p:sp>
        <p:nvSpPr>
          <p:cNvPr id="4" name="Footer Placeholder 3">
            <a:extLst>
              <a:ext uri="{FF2B5EF4-FFF2-40B4-BE49-F238E27FC236}">
                <a16:creationId xmlns:a16="http://schemas.microsoft.com/office/drawing/2014/main" id="{017C5495-49B0-4DDF-8367-4289473485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CACBD5F-0C63-4589-8C13-F1D446448F0E}"/>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1054066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1A8D0A-C4FC-45AB-9DC7-4FE061548D99}"/>
              </a:ext>
            </a:extLst>
          </p:cNvPr>
          <p:cNvSpPr>
            <a:spLocks noGrp="1"/>
          </p:cNvSpPr>
          <p:nvPr>
            <p:ph type="dt" sz="half" idx="10"/>
          </p:nvPr>
        </p:nvSpPr>
        <p:spPr/>
        <p:txBody>
          <a:bodyPr/>
          <a:lstStyle/>
          <a:p>
            <a:fld id="{8BEDB7D2-4BE7-404A-9A81-2617C8CA2523}" type="datetimeFigureOut">
              <a:rPr lang="en-IN" smtClean="0"/>
              <a:t>09-10-2025</a:t>
            </a:fld>
            <a:endParaRPr lang="en-IN"/>
          </a:p>
        </p:txBody>
      </p:sp>
      <p:sp>
        <p:nvSpPr>
          <p:cNvPr id="3" name="Footer Placeholder 2">
            <a:extLst>
              <a:ext uri="{FF2B5EF4-FFF2-40B4-BE49-F238E27FC236}">
                <a16:creationId xmlns:a16="http://schemas.microsoft.com/office/drawing/2014/main" id="{A5D48770-AC88-4351-BD0A-FD85FC2E800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D0672D7-3202-4ED1-A0DF-8FD10EF47E5E}"/>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283337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91FA6-CFFC-491D-A0BB-478FCFFEEB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0ADAC0-408B-48E8-86D5-E4067C4DD5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6D32173-59B4-47E0-825F-5E204E517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B467700-7826-4591-AA61-BCE013139FCA}"/>
              </a:ext>
            </a:extLst>
          </p:cNvPr>
          <p:cNvSpPr>
            <a:spLocks noGrp="1"/>
          </p:cNvSpPr>
          <p:nvPr>
            <p:ph type="dt" sz="half" idx="10"/>
          </p:nvPr>
        </p:nvSpPr>
        <p:spPr/>
        <p:txBody>
          <a:bodyPr/>
          <a:lstStyle/>
          <a:p>
            <a:fld id="{8BEDB7D2-4BE7-404A-9A81-2617C8CA2523}" type="datetimeFigureOut">
              <a:rPr lang="en-IN" smtClean="0"/>
              <a:t>09-10-2025</a:t>
            </a:fld>
            <a:endParaRPr lang="en-IN"/>
          </a:p>
        </p:txBody>
      </p:sp>
      <p:sp>
        <p:nvSpPr>
          <p:cNvPr id="6" name="Footer Placeholder 5">
            <a:extLst>
              <a:ext uri="{FF2B5EF4-FFF2-40B4-BE49-F238E27FC236}">
                <a16:creationId xmlns:a16="http://schemas.microsoft.com/office/drawing/2014/main" id="{BC56418C-F0E9-493B-BB3C-12FC2CE623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50DD37-2BF5-43BE-8959-B46C14ECFB38}"/>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3860274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CA147-9C25-4DBB-A014-76786D274D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13A5716-C6F3-430B-9458-D63B75316C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31D33E5-D2B1-44A0-8CA9-0534A8A9E2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7D35238-FAFB-480A-8261-E991E55138A2}"/>
              </a:ext>
            </a:extLst>
          </p:cNvPr>
          <p:cNvSpPr>
            <a:spLocks noGrp="1"/>
          </p:cNvSpPr>
          <p:nvPr>
            <p:ph type="dt" sz="half" idx="10"/>
          </p:nvPr>
        </p:nvSpPr>
        <p:spPr/>
        <p:txBody>
          <a:bodyPr/>
          <a:lstStyle/>
          <a:p>
            <a:fld id="{8BEDB7D2-4BE7-404A-9A81-2617C8CA2523}" type="datetimeFigureOut">
              <a:rPr lang="en-IN" smtClean="0"/>
              <a:t>09-10-2025</a:t>
            </a:fld>
            <a:endParaRPr lang="en-IN"/>
          </a:p>
        </p:txBody>
      </p:sp>
      <p:sp>
        <p:nvSpPr>
          <p:cNvPr id="6" name="Footer Placeholder 5">
            <a:extLst>
              <a:ext uri="{FF2B5EF4-FFF2-40B4-BE49-F238E27FC236}">
                <a16:creationId xmlns:a16="http://schemas.microsoft.com/office/drawing/2014/main" id="{86EE52CA-477D-4A0A-8C9D-6CCB377B27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6D5AFC-5842-41A7-8485-70AFB0F5E513}"/>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2047702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6264-E29F-4375-AEF5-F6A8F679C48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A568E9-F996-4C1E-AE88-834021DEE39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08CBDF-D041-4E60-B251-040ECF4184C2}"/>
              </a:ext>
            </a:extLst>
          </p:cNvPr>
          <p:cNvSpPr>
            <a:spLocks noGrp="1"/>
          </p:cNvSpPr>
          <p:nvPr>
            <p:ph type="dt" sz="half" idx="10"/>
          </p:nvPr>
        </p:nvSpPr>
        <p:spPr/>
        <p:txBody>
          <a:bodyPr/>
          <a:lstStyle/>
          <a:p>
            <a:fld id="{8BEDB7D2-4BE7-404A-9A81-2617C8CA2523}" type="datetimeFigureOut">
              <a:rPr lang="en-IN" smtClean="0"/>
              <a:t>09-10-2025</a:t>
            </a:fld>
            <a:endParaRPr lang="en-IN"/>
          </a:p>
        </p:txBody>
      </p:sp>
      <p:sp>
        <p:nvSpPr>
          <p:cNvPr id="5" name="Footer Placeholder 4">
            <a:extLst>
              <a:ext uri="{FF2B5EF4-FFF2-40B4-BE49-F238E27FC236}">
                <a16:creationId xmlns:a16="http://schemas.microsoft.com/office/drawing/2014/main" id="{B7C9EEC6-4CCE-463B-B90F-B04990387F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9D0994-D2E1-45B4-869F-EE4C659525C1}"/>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882848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F548DB-F64D-4DAD-A0C8-D303251E66F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C417CA-4C66-41B5-AC33-3BAA3BF53F1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8A2B2A-EB82-4284-96AE-09A4477E2952}"/>
              </a:ext>
            </a:extLst>
          </p:cNvPr>
          <p:cNvSpPr>
            <a:spLocks noGrp="1"/>
          </p:cNvSpPr>
          <p:nvPr>
            <p:ph type="dt" sz="half" idx="10"/>
          </p:nvPr>
        </p:nvSpPr>
        <p:spPr/>
        <p:txBody>
          <a:bodyPr/>
          <a:lstStyle/>
          <a:p>
            <a:fld id="{8BEDB7D2-4BE7-404A-9A81-2617C8CA2523}" type="datetimeFigureOut">
              <a:rPr lang="en-IN" smtClean="0"/>
              <a:t>09-10-2025</a:t>
            </a:fld>
            <a:endParaRPr lang="en-IN"/>
          </a:p>
        </p:txBody>
      </p:sp>
      <p:sp>
        <p:nvSpPr>
          <p:cNvPr id="5" name="Footer Placeholder 4">
            <a:extLst>
              <a:ext uri="{FF2B5EF4-FFF2-40B4-BE49-F238E27FC236}">
                <a16:creationId xmlns:a16="http://schemas.microsoft.com/office/drawing/2014/main" id="{0B540C5F-1176-4886-8939-41FA794300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780B43-414A-4992-BE10-94EB7B6C00D4}"/>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3290030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C8861-267B-454F-B55B-F15FBD50DE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7B65B04-D853-4438-934F-70DEF0C328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19415C9-2DF8-4DB5-AAA0-D6D86BFDFC01}"/>
              </a:ext>
            </a:extLst>
          </p:cNvPr>
          <p:cNvSpPr>
            <a:spLocks noGrp="1"/>
          </p:cNvSpPr>
          <p:nvPr>
            <p:ph type="dt" sz="half" idx="10"/>
          </p:nvPr>
        </p:nvSpPr>
        <p:spPr/>
        <p:txBody>
          <a:bodyPr/>
          <a:lstStyle/>
          <a:p>
            <a:fld id="{846CE7D5-CF57-46EF-B807-FDD0502418D4}" type="datetimeFigureOut">
              <a:rPr lang="en-US" smtClean="0"/>
              <a:t>10/9/2025</a:t>
            </a:fld>
            <a:endParaRPr lang="en-US"/>
          </a:p>
        </p:txBody>
      </p:sp>
      <p:sp>
        <p:nvSpPr>
          <p:cNvPr id="5" name="Footer Placeholder 4">
            <a:extLst>
              <a:ext uri="{FF2B5EF4-FFF2-40B4-BE49-F238E27FC236}">
                <a16:creationId xmlns:a16="http://schemas.microsoft.com/office/drawing/2014/main" id="{7803A0C7-334E-45B4-BD7C-42416459D6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5C2BE7-AD33-4895-94E8-AABAA95C0A7D}"/>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5948462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AA467-FBAF-4FB4-A52D-0D5A20576A8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544132-CDAE-44B9-890E-605D512F1D3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DFD623-A2D1-4D43-86EF-2D6A650A736B}"/>
              </a:ext>
            </a:extLst>
          </p:cNvPr>
          <p:cNvSpPr>
            <a:spLocks noGrp="1"/>
          </p:cNvSpPr>
          <p:nvPr>
            <p:ph type="dt" sz="half" idx="10"/>
          </p:nvPr>
        </p:nvSpPr>
        <p:spPr/>
        <p:txBody>
          <a:bodyPr/>
          <a:lstStyle/>
          <a:p>
            <a:fld id="{846CE7D5-CF57-46EF-B807-FDD0502418D4}" type="datetimeFigureOut">
              <a:rPr lang="en-US" smtClean="0"/>
              <a:t>10/9/2025</a:t>
            </a:fld>
            <a:endParaRPr lang="en-US"/>
          </a:p>
        </p:txBody>
      </p:sp>
      <p:sp>
        <p:nvSpPr>
          <p:cNvPr id="5" name="Footer Placeholder 4">
            <a:extLst>
              <a:ext uri="{FF2B5EF4-FFF2-40B4-BE49-F238E27FC236}">
                <a16:creationId xmlns:a16="http://schemas.microsoft.com/office/drawing/2014/main" id="{D19A456C-2BCD-4330-B8BD-A172349047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28EDBE-7E50-49E1-AFE0-69F8C432C85D}"/>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3475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E0F2C-C556-415D-A216-BEA0E094EE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4CB855C-4D6C-4FEF-93AA-BF4D8E6EE4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764FAE8-BE03-42C9-B8CE-6661BE755614}"/>
              </a:ext>
            </a:extLst>
          </p:cNvPr>
          <p:cNvSpPr>
            <a:spLocks noGrp="1"/>
          </p:cNvSpPr>
          <p:nvPr>
            <p:ph type="dt" sz="half" idx="10"/>
          </p:nvPr>
        </p:nvSpPr>
        <p:spPr/>
        <p:txBody>
          <a:bodyPr/>
          <a:lstStyle/>
          <a:p>
            <a:fld id="{846CE7D5-CF57-46EF-B807-FDD0502418D4}" type="datetimeFigureOut">
              <a:rPr lang="en-US" smtClean="0"/>
              <a:t>10/9/2025</a:t>
            </a:fld>
            <a:endParaRPr lang="en-US"/>
          </a:p>
        </p:txBody>
      </p:sp>
      <p:sp>
        <p:nvSpPr>
          <p:cNvPr id="5" name="Footer Placeholder 4">
            <a:extLst>
              <a:ext uri="{FF2B5EF4-FFF2-40B4-BE49-F238E27FC236}">
                <a16:creationId xmlns:a16="http://schemas.microsoft.com/office/drawing/2014/main" id="{2F3F4789-A98C-4580-97DB-E9A5A3171B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43BA-A667-4C0A-90F1-7F697CAE7298}"/>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03584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8096F-F5DA-49BB-99F9-460B1D8798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155368-689A-47B8-8665-376AA3C2968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33DFF81-C4E3-4E9F-A935-7D8D5BC5284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470E4A-1159-442E-81BA-55B195DF0415}"/>
              </a:ext>
            </a:extLst>
          </p:cNvPr>
          <p:cNvSpPr>
            <a:spLocks noGrp="1"/>
          </p:cNvSpPr>
          <p:nvPr>
            <p:ph type="dt" sz="half" idx="10"/>
          </p:nvPr>
        </p:nvSpPr>
        <p:spPr/>
        <p:txBody>
          <a:bodyPr/>
          <a:lstStyle/>
          <a:p>
            <a:fld id="{846CE7D5-CF57-46EF-B807-FDD0502418D4}" type="datetimeFigureOut">
              <a:rPr lang="en-US" smtClean="0"/>
              <a:t>10/9/2025</a:t>
            </a:fld>
            <a:endParaRPr lang="en-US"/>
          </a:p>
        </p:txBody>
      </p:sp>
      <p:sp>
        <p:nvSpPr>
          <p:cNvPr id="6" name="Footer Placeholder 5">
            <a:extLst>
              <a:ext uri="{FF2B5EF4-FFF2-40B4-BE49-F238E27FC236}">
                <a16:creationId xmlns:a16="http://schemas.microsoft.com/office/drawing/2014/main" id="{4FDB9730-FD4F-4506-9D25-89CF838148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522CDF-7EE3-4F4D-8A3B-4B3D31E9B984}"/>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12360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43A7A-BA0E-42AD-A892-BDDD6685256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AA353D-2246-44C6-9D55-60B9E3FB94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0C613F2-0CA2-49C1-8314-1C88AD4D5BA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D7B004-62B3-4A1A-96EC-32B9155F67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2D6BD26-BAB4-4D86-B58D-433F856C784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28D98B1-F880-49B5-9194-581D7854B14D}"/>
              </a:ext>
            </a:extLst>
          </p:cNvPr>
          <p:cNvSpPr>
            <a:spLocks noGrp="1"/>
          </p:cNvSpPr>
          <p:nvPr>
            <p:ph type="dt" sz="half" idx="10"/>
          </p:nvPr>
        </p:nvSpPr>
        <p:spPr/>
        <p:txBody>
          <a:bodyPr/>
          <a:lstStyle/>
          <a:p>
            <a:fld id="{846CE7D5-CF57-46EF-B807-FDD0502418D4}" type="datetimeFigureOut">
              <a:rPr lang="en-US" smtClean="0"/>
              <a:t>10/9/2025</a:t>
            </a:fld>
            <a:endParaRPr lang="en-US"/>
          </a:p>
        </p:txBody>
      </p:sp>
      <p:sp>
        <p:nvSpPr>
          <p:cNvPr id="8" name="Footer Placeholder 7">
            <a:extLst>
              <a:ext uri="{FF2B5EF4-FFF2-40B4-BE49-F238E27FC236}">
                <a16:creationId xmlns:a16="http://schemas.microsoft.com/office/drawing/2014/main" id="{98132BD6-4DF2-427B-9D16-D52DBC7231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604A6B-E3FE-4830-AE8D-CB16D23045CD}"/>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803973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F3800-4727-4059-B2F5-D3BD82DDF82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A85550-DB47-4D53-B291-DEB2E24C694C}"/>
              </a:ext>
            </a:extLst>
          </p:cNvPr>
          <p:cNvSpPr>
            <a:spLocks noGrp="1"/>
          </p:cNvSpPr>
          <p:nvPr>
            <p:ph type="dt" sz="half" idx="10"/>
          </p:nvPr>
        </p:nvSpPr>
        <p:spPr/>
        <p:txBody>
          <a:bodyPr/>
          <a:lstStyle/>
          <a:p>
            <a:fld id="{846CE7D5-CF57-46EF-B807-FDD0502418D4}" type="datetimeFigureOut">
              <a:rPr lang="en-US" smtClean="0"/>
              <a:t>10/9/2025</a:t>
            </a:fld>
            <a:endParaRPr lang="en-US"/>
          </a:p>
        </p:txBody>
      </p:sp>
      <p:sp>
        <p:nvSpPr>
          <p:cNvPr id="4" name="Footer Placeholder 3">
            <a:extLst>
              <a:ext uri="{FF2B5EF4-FFF2-40B4-BE49-F238E27FC236}">
                <a16:creationId xmlns:a16="http://schemas.microsoft.com/office/drawing/2014/main" id="{49ABBA4C-BF66-4145-8C95-4FBFB28EA7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9B0061-40E5-40DA-8CAD-56D7CDF6D565}"/>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940961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D1C212-CC7F-40B6-8A0D-FFCD46B0C195}"/>
              </a:ext>
            </a:extLst>
          </p:cNvPr>
          <p:cNvSpPr>
            <a:spLocks noGrp="1"/>
          </p:cNvSpPr>
          <p:nvPr>
            <p:ph type="dt" sz="half" idx="10"/>
          </p:nvPr>
        </p:nvSpPr>
        <p:spPr/>
        <p:txBody>
          <a:bodyPr/>
          <a:lstStyle/>
          <a:p>
            <a:fld id="{846CE7D5-CF57-46EF-B807-FDD0502418D4}" type="datetimeFigureOut">
              <a:rPr lang="en-US" smtClean="0"/>
              <a:t>10/9/2025</a:t>
            </a:fld>
            <a:endParaRPr lang="en-US"/>
          </a:p>
        </p:txBody>
      </p:sp>
      <p:sp>
        <p:nvSpPr>
          <p:cNvPr id="3" name="Footer Placeholder 2">
            <a:extLst>
              <a:ext uri="{FF2B5EF4-FFF2-40B4-BE49-F238E27FC236}">
                <a16:creationId xmlns:a16="http://schemas.microsoft.com/office/drawing/2014/main" id="{B97B5E33-3D84-42A3-92FE-B55F5467DD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26F742-43CA-4F40-84F6-837824C5BAF9}"/>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766615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45272-E2D7-4060-AEC3-3858BA230E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9F7D47-D27C-4AF5-A110-08EE396489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E023D4B-57ED-46B2-B573-4EA9935DA1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9221CE3-12BE-4B50-956D-1E42E05130B1}"/>
              </a:ext>
            </a:extLst>
          </p:cNvPr>
          <p:cNvSpPr>
            <a:spLocks noGrp="1"/>
          </p:cNvSpPr>
          <p:nvPr>
            <p:ph type="dt" sz="half" idx="10"/>
          </p:nvPr>
        </p:nvSpPr>
        <p:spPr/>
        <p:txBody>
          <a:bodyPr/>
          <a:lstStyle/>
          <a:p>
            <a:fld id="{846CE7D5-CF57-46EF-B807-FDD0502418D4}" type="datetimeFigureOut">
              <a:rPr lang="en-US" smtClean="0"/>
              <a:t>10/9/2025</a:t>
            </a:fld>
            <a:endParaRPr lang="en-US"/>
          </a:p>
        </p:txBody>
      </p:sp>
      <p:sp>
        <p:nvSpPr>
          <p:cNvPr id="6" name="Footer Placeholder 5">
            <a:extLst>
              <a:ext uri="{FF2B5EF4-FFF2-40B4-BE49-F238E27FC236}">
                <a16:creationId xmlns:a16="http://schemas.microsoft.com/office/drawing/2014/main" id="{54E77CBF-32B8-40B2-8591-EB2BFA87A4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331EAE-EEFC-44E5-AF0E-240ABD14F480}"/>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0056993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04D5A-0659-44E9-BE96-480DA08CC6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7313A8D-D7E7-4B2D-8D05-EFEE6989E9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D623B8F-B645-4794-94F3-C13A08ECBA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58E9985-0AD6-4002-9182-8768F800DA73}"/>
              </a:ext>
            </a:extLst>
          </p:cNvPr>
          <p:cNvSpPr>
            <a:spLocks noGrp="1"/>
          </p:cNvSpPr>
          <p:nvPr>
            <p:ph type="dt" sz="half" idx="10"/>
          </p:nvPr>
        </p:nvSpPr>
        <p:spPr/>
        <p:txBody>
          <a:bodyPr/>
          <a:lstStyle/>
          <a:p>
            <a:fld id="{846CE7D5-CF57-46EF-B807-FDD0502418D4}" type="datetimeFigureOut">
              <a:rPr lang="en-US" smtClean="0"/>
              <a:t>10/9/2025</a:t>
            </a:fld>
            <a:endParaRPr lang="en-US"/>
          </a:p>
        </p:txBody>
      </p:sp>
      <p:sp>
        <p:nvSpPr>
          <p:cNvPr id="6" name="Footer Placeholder 5">
            <a:extLst>
              <a:ext uri="{FF2B5EF4-FFF2-40B4-BE49-F238E27FC236}">
                <a16:creationId xmlns:a16="http://schemas.microsoft.com/office/drawing/2014/main" id="{35754357-3CBC-4BE0-88D7-9419B398A7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53EDDB-5E36-47EF-B018-5860B82665A9}"/>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535226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CA27F-600E-493C-9332-4C71A97D724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1E16CB-12E7-4E39-9422-6308F3746AC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705F7B-3805-4FD1-9727-4D372850C93B}"/>
              </a:ext>
            </a:extLst>
          </p:cNvPr>
          <p:cNvSpPr>
            <a:spLocks noGrp="1"/>
          </p:cNvSpPr>
          <p:nvPr>
            <p:ph type="dt" sz="half" idx="10"/>
          </p:nvPr>
        </p:nvSpPr>
        <p:spPr/>
        <p:txBody>
          <a:bodyPr/>
          <a:lstStyle/>
          <a:p>
            <a:fld id="{846CE7D5-CF57-46EF-B807-FDD0502418D4}" type="datetimeFigureOut">
              <a:rPr lang="en-US" smtClean="0"/>
              <a:t>10/9/2025</a:t>
            </a:fld>
            <a:endParaRPr lang="en-US"/>
          </a:p>
        </p:txBody>
      </p:sp>
      <p:sp>
        <p:nvSpPr>
          <p:cNvPr id="5" name="Footer Placeholder 4">
            <a:extLst>
              <a:ext uri="{FF2B5EF4-FFF2-40B4-BE49-F238E27FC236}">
                <a16:creationId xmlns:a16="http://schemas.microsoft.com/office/drawing/2014/main" id="{51331D2A-FC45-4712-9CA0-628179EBED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909F43-53B0-4D34-919D-65402A0B27CD}"/>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386501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495683-DA70-4C0F-A82D-BD21855A603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A8A46A-DA4F-43A0-968C-A45CB56B8EB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D8A33F-A1CA-4B22-ACA7-B63BF09EA678}"/>
              </a:ext>
            </a:extLst>
          </p:cNvPr>
          <p:cNvSpPr>
            <a:spLocks noGrp="1"/>
          </p:cNvSpPr>
          <p:nvPr>
            <p:ph type="dt" sz="half" idx="10"/>
          </p:nvPr>
        </p:nvSpPr>
        <p:spPr/>
        <p:txBody>
          <a:bodyPr/>
          <a:lstStyle/>
          <a:p>
            <a:fld id="{846CE7D5-CF57-46EF-B807-FDD0502418D4}" type="datetimeFigureOut">
              <a:rPr lang="en-US" smtClean="0"/>
              <a:t>10/9/2025</a:t>
            </a:fld>
            <a:endParaRPr lang="en-US"/>
          </a:p>
        </p:txBody>
      </p:sp>
      <p:sp>
        <p:nvSpPr>
          <p:cNvPr id="5" name="Footer Placeholder 4">
            <a:extLst>
              <a:ext uri="{FF2B5EF4-FFF2-40B4-BE49-F238E27FC236}">
                <a16:creationId xmlns:a16="http://schemas.microsoft.com/office/drawing/2014/main" id="{75043026-29BE-46F5-AED6-616A24E5F0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682663-5A87-4B57-98C7-7FE4EDBAD4E3}"/>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550459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032E98-B870-47C8-B382-006DA78911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E2F424-72F9-49F8-BB1E-58B9C1EE52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E42FE6-7449-4460-85A5-2A061024AD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DB7D2-4BE7-404A-9A81-2617C8CA2523}" type="datetimeFigureOut">
              <a:rPr lang="en-IN" smtClean="0"/>
              <a:t>09-10-2025</a:t>
            </a:fld>
            <a:endParaRPr lang="en-IN"/>
          </a:p>
        </p:txBody>
      </p:sp>
      <p:sp>
        <p:nvSpPr>
          <p:cNvPr id="5" name="Footer Placeholder 4">
            <a:extLst>
              <a:ext uri="{FF2B5EF4-FFF2-40B4-BE49-F238E27FC236}">
                <a16:creationId xmlns:a16="http://schemas.microsoft.com/office/drawing/2014/main" id="{D704D129-E6A1-4E47-81F1-CFF2C2A783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631D4AF-E637-409D-A739-9F473CB473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FFBA1A-2134-485F-8D4E-D7ED40A61703}" type="slidenum">
              <a:rPr lang="en-IN" smtClean="0"/>
              <a:t>‹#›</a:t>
            </a:fld>
            <a:endParaRPr lang="en-IN"/>
          </a:p>
        </p:txBody>
      </p:sp>
    </p:spTree>
    <p:extLst>
      <p:ext uri="{BB962C8B-B14F-4D97-AF65-F5344CB8AC3E}">
        <p14:creationId xmlns:p14="http://schemas.microsoft.com/office/powerpoint/2010/main" val="839164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93FB42-CD55-43A5-93B0-D154DA08F3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77E1D2-0A28-4B8B-A668-6CD3FFFD37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EC82A5-8CA9-4BE4-ABE8-D20DF42E6F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10/9/2025</a:t>
            </a:fld>
            <a:endParaRPr lang="en-US"/>
          </a:p>
        </p:txBody>
      </p:sp>
      <p:sp>
        <p:nvSpPr>
          <p:cNvPr id="5" name="Footer Placeholder 4">
            <a:extLst>
              <a:ext uri="{FF2B5EF4-FFF2-40B4-BE49-F238E27FC236}">
                <a16:creationId xmlns:a16="http://schemas.microsoft.com/office/drawing/2014/main" id="{4ED4720B-73B5-4623-B588-8ED2E60343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6589EC6-5595-4A89-9FAD-856D0D36B5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3664127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up of a white background&#10;&#10;Description automatically generated">
            <a:extLst>
              <a:ext uri="{FF2B5EF4-FFF2-40B4-BE49-F238E27FC236}">
                <a16:creationId xmlns:a16="http://schemas.microsoft.com/office/drawing/2014/main" id="{0BFA9322-5FDE-EE9D-161B-1031B4C04231}"/>
              </a:ext>
            </a:extLst>
          </p:cNvPr>
          <p:cNvPicPr>
            <a:picLocks noChangeAspect="1"/>
          </p:cNvPicPr>
          <p:nvPr/>
        </p:nvPicPr>
        <p:blipFill>
          <a:blip r:embed="rId2"/>
          <a:stretch>
            <a:fillRect/>
          </a:stretch>
        </p:blipFill>
        <p:spPr>
          <a:xfrm>
            <a:off x="2516093" y="-2488"/>
            <a:ext cx="7159815" cy="1629368"/>
          </a:xfrm>
          <a:prstGeom prst="rect">
            <a:avLst/>
          </a:prstGeom>
        </p:spPr>
      </p:pic>
      <p:sp>
        <p:nvSpPr>
          <p:cNvPr id="5" name="TextBox 4">
            <a:extLst>
              <a:ext uri="{FF2B5EF4-FFF2-40B4-BE49-F238E27FC236}">
                <a16:creationId xmlns:a16="http://schemas.microsoft.com/office/drawing/2014/main" id="{A0C794E1-067C-91DC-3AA1-A1C5ABEF60EA}"/>
              </a:ext>
            </a:extLst>
          </p:cNvPr>
          <p:cNvSpPr txBox="1"/>
          <p:nvPr/>
        </p:nvSpPr>
        <p:spPr>
          <a:xfrm>
            <a:off x="1188604" y="1779409"/>
            <a:ext cx="981479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spc="-10" dirty="0">
                <a:latin typeface="Times New Roman" panose="02020603050405020304" pitchFamily="18" charset="0"/>
                <a:cs typeface="Times New Roman" panose="02020603050405020304" pitchFamily="18" charset="0"/>
              </a:rPr>
              <a:t>The AI Powered 3D Medical </a:t>
            </a:r>
            <a:br>
              <a:rPr lang="en-US" sz="4000" spc="-10" dirty="0">
                <a:latin typeface="Times New Roman" panose="02020603050405020304" pitchFamily="18" charset="0"/>
                <a:cs typeface="Times New Roman" panose="02020603050405020304" pitchFamily="18" charset="0"/>
              </a:rPr>
            </a:br>
            <a:r>
              <a:rPr lang="en-US" sz="4000" spc="-10" dirty="0">
                <a:latin typeface="Times New Roman" panose="02020603050405020304" pitchFamily="18" charset="0"/>
                <a:cs typeface="Times New Roman" panose="02020603050405020304" pitchFamily="18" charset="0"/>
              </a:rPr>
              <a:t>  Visualization Tool</a:t>
            </a:r>
            <a:endParaRPr lang="en-US" sz="4000" b="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BBADDBF-A5E1-1A95-ADFD-6FF2D7D1CA85}"/>
              </a:ext>
            </a:extLst>
          </p:cNvPr>
          <p:cNvGraphicFramePr>
            <a:graphicFrameLocks noGrp="1"/>
          </p:cNvGraphicFramePr>
          <p:nvPr>
            <p:extLst>
              <p:ext uri="{D42A27DB-BD31-4B8C-83A1-F6EECF244321}">
                <p14:modId xmlns:p14="http://schemas.microsoft.com/office/powerpoint/2010/main" val="611687411"/>
              </p:ext>
            </p:extLst>
          </p:nvPr>
        </p:nvGraphicFramePr>
        <p:xfrm>
          <a:off x="2992046" y="3684455"/>
          <a:ext cx="6207908" cy="1459275"/>
        </p:xfrm>
        <a:graphic>
          <a:graphicData uri="http://schemas.openxmlformats.org/drawingml/2006/table">
            <a:tbl>
              <a:tblPr firstRow="1" bandRow="1">
                <a:tableStyleId>{5940675A-B579-460E-94D1-54222C63F5DA}</a:tableStyleId>
              </a:tblPr>
              <a:tblGrid>
                <a:gridCol w="3103954">
                  <a:extLst>
                    <a:ext uri="{9D8B030D-6E8A-4147-A177-3AD203B41FA5}">
                      <a16:colId xmlns:a16="http://schemas.microsoft.com/office/drawing/2014/main" val="2168846367"/>
                    </a:ext>
                  </a:extLst>
                </a:gridCol>
                <a:gridCol w="3103954">
                  <a:extLst>
                    <a:ext uri="{9D8B030D-6E8A-4147-A177-3AD203B41FA5}">
                      <a16:colId xmlns:a16="http://schemas.microsoft.com/office/drawing/2014/main" val="2578618339"/>
                    </a:ext>
                  </a:extLst>
                </a:gridCol>
              </a:tblGrid>
              <a:tr h="486425">
                <a:tc>
                  <a:txBody>
                    <a:bodyPr/>
                    <a:lstStyle/>
                    <a:p>
                      <a:pPr algn="ctr"/>
                      <a:r>
                        <a:rPr lang="en-US" sz="2000" dirty="0">
                          <a:solidFill>
                            <a:schemeClr val="tx1"/>
                          </a:solidFill>
                          <a:latin typeface="Times New Roman"/>
                        </a:rPr>
                        <a:t>Kunal </a:t>
                      </a:r>
                      <a:r>
                        <a:rPr lang="en-US" sz="2000" dirty="0" err="1">
                          <a:solidFill>
                            <a:schemeClr val="tx1"/>
                          </a:solidFill>
                          <a:latin typeface="Times New Roman"/>
                        </a:rPr>
                        <a:t>Redij</a:t>
                      </a:r>
                      <a:endParaRPr lang="en-US" sz="2000" dirty="0">
                        <a:solidFill>
                          <a:schemeClr val="tx1"/>
                        </a:solidFill>
                        <a:latin typeface="Times New Roman"/>
                      </a:endParaRPr>
                    </a:p>
                  </a:txBody>
                  <a:tcPr anchor="ctr">
                    <a:lnL w="0">
                      <a:noFill/>
                    </a:lnL>
                    <a:lnR w="0">
                      <a:noFill/>
                    </a:lnR>
                    <a:lnT w="0">
                      <a:noFill/>
                    </a:lnT>
                    <a:lnB w="0">
                      <a:noFill/>
                    </a:lnB>
                  </a:tcPr>
                </a:tc>
                <a:tc>
                  <a:txBody>
                    <a:bodyPr/>
                    <a:lstStyle/>
                    <a:p>
                      <a:pPr algn="ctr"/>
                      <a:r>
                        <a:rPr lang="en-US" sz="2000" dirty="0">
                          <a:solidFill>
                            <a:schemeClr val="tx1"/>
                          </a:solidFill>
                          <a:latin typeface="Times New Roman"/>
                        </a:rPr>
                        <a:t>(23106067)</a:t>
                      </a:r>
                    </a:p>
                  </a:txBody>
                  <a:tcPr anchor="ctr">
                    <a:lnL w="0">
                      <a:noFill/>
                    </a:lnL>
                    <a:lnR w="0">
                      <a:noFill/>
                    </a:lnR>
                    <a:lnT w="0">
                      <a:noFill/>
                    </a:lnT>
                    <a:lnB w="0">
                      <a:noFill/>
                    </a:lnB>
                  </a:tcPr>
                </a:tc>
                <a:extLst>
                  <a:ext uri="{0D108BD9-81ED-4DB2-BD59-A6C34878D82A}">
                    <a16:rowId xmlns:a16="http://schemas.microsoft.com/office/drawing/2014/main" val="1852539082"/>
                  </a:ext>
                </a:extLst>
              </a:tr>
              <a:tr h="486425">
                <a:tc>
                  <a:txBody>
                    <a:bodyPr/>
                    <a:lstStyle/>
                    <a:p>
                      <a:pPr algn="ctr"/>
                      <a:r>
                        <a:rPr lang="en-US" sz="2000" dirty="0">
                          <a:solidFill>
                            <a:schemeClr val="tx1"/>
                          </a:solidFill>
                          <a:latin typeface="Times New Roman"/>
                        </a:rPr>
                        <a:t>Makarand Panchal</a:t>
                      </a:r>
                    </a:p>
                  </a:txBody>
                  <a:tcPr anchor="ctr">
                    <a:lnL w="0">
                      <a:noFill/>
                    </a:lnL>
                    <a:lnR w="0">
                      <a:noFill/>
                    </a:lnR>
                    <a:lnT w="0">
                      <a:noFill/>
                    </a:lnT>
                    <a:lnB w="0">
                      <a:noFill/>
                    </a:lnB>
                  </a:tcPr>
                </a:tc>
                <a:tc>
                  <a:txBody>
                    <a:bodyPr/>
                    <a:lstStyle/>
                    <a:p>
                      <a:pPr algn="ctr"/>
                      <a:r>
                        <a:rPr lang="en-US" sz="2000" dirty="0">
                          <a:solidFill>
                            <a:schemeClr val="tx1"/>
                          </a:solidFill>
                          <a:latin typeface="Times New Roman"/>
                        </a:rPr>
                        <a:t>(23106065)</a:t>
                      </a:r>
                    </a:p>
                  </a:txBody>
                  <a:tcPr anchor="ctr">
                    <a:lnL w="0">
                      <a:noFill/>
                    </a:lnL>
                    <a:lnR w="0">
                      <a:noFill/>
                    </a:lnR>
                    <a:lnT w="0">
                      <a:noFill/>
                    </a:lnT>
                    <a:lnB w="0">
                      <a:noFill/>
                    </a:lnB>
                  </a:tcPr>
                </a:tc>
                <a:extLst>
                  <a:ext uri="{0D108BD9-81ED-4DB2-BD59-A6C34878D82A}">
                    <a16:rowId xmlns:a16="http://schemas.microsoft.com/office/drawing/2014/main" val="726328611"/>
                  </a:ext>
                </a:extLst>
              </a:tr>
              <a:tr h="486425">
                <a:tc>
                  <a:txBody>
                    <a:bodyPr/>
                    <a:lstStyle/>
                    <a:p>
                      <a:pPr lvl="0" algn="ctr">
                        <a:buNone/>
                      </a:pPr>
                      <a:r>
                        <a:rPr lang="en-US" sz="2000" dirty="0">
                          <a:solidFill>
                            <a:schemeClr val="tx1"/>
                          </a:solidFill>
                          <a:latin typeface="Times New Roman"/>
                        </a:rPr>
                        <a:t>Rishikesh Shinde</a:t>
                      </a:r>
                    </a:p>
                  </a:txBody>
                  <a:tcPr anchor="ctr">
                    <a:lnL w="0">
                      <a:noFill/>
                    </a:lnL>
                    <a:lnR w="0">
                      <a:noFill/>
                    </a:lnR>
                    <a:lnT w="0">
                      <a:noFill/>
                    </a:lnT>
                    <a:lnB w="0">
                      <a:noFill/>
                    </a:lnB>
                  </a:tcPr>
                </a:tc>
                <a:tc>
                  <a:txBody>
                    <a:bodyPr/>
                    <a:lstStyle/>
                    <a:p>
                      <a:pPr lvl="0" algn="ctr">
                        <a:buNone/>
                      </a:pPr>
                      <a:r>
                        <a:rPr lang="en-US" sz="2000" dirty="0">
                          <a:solidFill>
                            <a:schemeClr val="tx1"/>
                          </a:solidFill>
                          <a:latin typeface="Times New Roman"/>
                        </a:rPr>
                        <a:t>(23106061)</a:t>
                      </a:r>
                    </a:p>
                  </a:txBody>
                  <a:tcPr anchor="ctr">
                    <a:lnL w="0">
                      <a:noFill/>
                    </a:lnL>
                    <a:lnR w="0">
                      <a:noFill/>
                    </a:lnR>
                    <a:lnT w="0">
                      <a:noFill/>
                    </a:lnT>
                    <a:lnB w="0">
                      <a:noFill/>
                    </a:lnB>
                  </a:tcPr>
                </a:tc>
                <a:extLst>
                  <a:ext uri="{0D108BD9-81ED-4DB2-BD59-A6C34878D82A}">
                    <a16:rowId xmlns:a16="http://schemas.microsoft.com/office/drawing/2014/main" val="2734563188"/>
                  </a:ext>
                </a:extLst>
              </a:tr>
            </a:tbl>
          </a:graphicData>
        </a:graphic>
      </p:graphicFrame>
      <p:sp>
        <p:nvSpPr>
          <p:cNvPr id="7" name="TextBox 6">
            <a:extLst>
              <a:ext uri="{FF2B5EF4-FFF2-40B4-BE49-F238E27FC236}">
                <a16:creationId xmlns:a16="http://schemas.microsoft.com/office/drawing/2014/main" id="{B4B88A52-9C4B-8118-DD23-FEBA2051904B}"/>
              </a:ext>
            </a:extLst>
          </p:cNvPr>
          <p:cNvSpPr txBox="1"/>
          <p:nvPr/>
        </p:nvSpPr>
        <p:spPr>
          <a:xfrm>
            <a:off x="3468000" y="5700097"/>
            <a:ext cx="538227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latin typeface="Times New Roman" panose="02020603050405020304" pitchFamily="18" charset="0"/>
                <a:cs typeface="Times New Roman" panose="02020603050405020304" pitchFamily="18" charset="0"/>
              </a:rPr>
              <a:t>Under the guidance of</a:t>
            </a:r>
          </a:p>
          <a:p>
            <a:pPr algn="ctr"/>
            <a:r>
              <a:rPr lang="en-US" sz="2400" b="1" dirty="0">
                <a:latin typeface="Times New Roman" panose="02020603050405020304" pitchFamily="18" charset="0"/>
                <a:cs typeface="Times New Roman" panose="02020603050405020304" pitchFamily="18" charset="0"/>
              </a:rPr>
              <a:t>Dr. Tejashri Kolhe</a:t>
            </a:r>
          </a:p>
          <a:p>
            <a:pPr algn="ctr"/>
            <a:r>
              <a:rPr lang="en-US" sz="2000" dirty="0">
                <a:latin typeface="Times New Roman" panose="02020603050405020304" pitchFamily="18" charset="0"/>
                <a:cs typeface="Times New Roman" panose="02020603050405020304" pitchFamily="18" charset="0"/>
              </a:rPr>
              <a:t>Academic Year 2025-26</a:t>
            </a:r>
          </a:p>
        </p:txBody>
      </p:sp>
      <p:sp>
        <p:nvSpPr>
          <p:cNvPr id="2" name="TextBox 1">
            <a:extLst>
              <a:ext uri="{FF2B5EF4-FFF2-40B4-BE49-F238E27FC236}">
                <a16:creationId xmlns:a16="http://schemas.microsoft.com/office/drawing/2014/main" id="{69CB4876-F86A-4852-89EB-8350BA56EF25}"/>
              </a:ext>
            </a:extLst>
          </p:cNvPr>
          <p:cNvSpPr txBox="1"/>
          <p:nvPr/>
        </p:nvSpPr>
        <p:spPr>
          <a:xfrm>
            <a:off x="5260041" y="3193372"/>
            <a:ext cx="1671918" cy="338554"/>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A Mini Project by</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00F62-7871-8F1A-4E26-7EF04FFAA238}"/>
              </a:ext>
            </a:extLst>
          </p:cNvPr>
          <p:cNvSpPr>
            <a:spLocks noGrp="1"/>
          </p:cNvSpPr>
          <p:nvPr>
            <p:ph type="title"/>
          </p:nvPr>
        </p:nvSpPr>
        <p:spPr>
          <a:xfrm>
            <a:off x="838200" y="0"/>
            <a:ext cx="10515600" cy="1325563"/>
          </a:xfrm>
        </p:spPr>
        <p:txBody>
          <a:bodyPr>
            <a:normAutofit/>
          </a:bodyPr>
          <a:lstStyle/>
          <a:p>
            <a:r>
              <a:rPr lang="en-US" sz="3600" b="1" dirty="0">
                <a:latin typeface="Times New Roman" panose="02020603050405020304" pitchFamily="18" charset="0"/>
                <a:cs typeface="Times New Roman" panose="02020603050405020304" pitchFamily="18" charset="0"/>
              </a:rPr>
              <a:t>Presentation Outline:</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11A46D8-A4A5-6E02-2268-5B6D99CA8B6A}"/>
              </a:ext>
            </a:extLst>
          </p:cNvPr>
          <p:cNvSpPr>
            <a:spLocks noGrp="1"/>
          </p:cNvSpPr>
          <p:nvPr>
            <p:ph idx="1"/>
          </p:nvPr>
        </p:nvSpPr>
        <p:spPr>
          <a:xfrm>
            <a:off x="838200" y="1265784"/>
            <a:ext cx="5777753" cy="4817775"/>
          </a:xfrm>
        </p:spPr>
        <p:txBody>
          <a:bodyPr>
            <a:normAutofit/>
          </a:bodyPr>
          <a:lstStyle/>
          <a:p>
            <a:r>
              <a:rPr lang="en-US" dirty="0">
                <a:latin typeface="Times New Roman" panose="02020603050405020304" pitchFamily="18" charset="0"/>
                <a:cs typeface="Times New Roman" panose="02020603050405020304" pitchFamily="18" charset="0"/>
              </a:rPr>
              <a:t>Introduction</a:t>
            </a:r>
          </a:p>
          <a:p>
            <a:r>
              <a:rPr lang="en-US" dirty="0">
                <a:latin typeface="Times New Roman" panose="02020603050405020304" pitchFamily="18" charset="0"/>
                <a:cs typeface="Times New Roman" panose="02020603050405020304" pitchFamily="18" charset="0"/>
              </a:rPr>
              <a:t>Literature Survey</a:t>
            </a:r>
            <a:r>
              <a:rPr lang="en-IN" dirty="0">
                <a:latin typeface="Times New Roman" panose="02020603050405020304" pitchFamily="18" charset="0"/>
                <a:cs typeface="Times New Roman" panose="02020603050405020304" pitchFamily="18" charset="0"/>
              </a:rPr>
              <a:t> of existing system</a:t>
            </a:r>
            <a:r>
              <a:rPr lang="en-US" dirty="0">
                <a:latin typeface="Times New Roman" panose="02020603050405020304" pitchFamily="18" charset="0"/>
                <a:cs typeface="Times New Roman" panose="02020603050405020304" pitchFamily="18" charset="0"/>
              </a:rPr>
              <a:t>s</a:t>
            </a:r>
          </a:p>
          <a:p>
            <a:r>
              <a:rPr lang="en-US" dirty="0">
                <a:latin typeface="Times New Roman" panose="02020603050405020304" pitchFamily="18" charset="0"/>
                <a:cs typeface="Times New Roman" panose="02020603050405020304" pitchFamily="18" charset="0"/>
              </a:rPr>
              <a:t>Limitations in existing systems</a:t>
            </a:r>
          </a:p>
          <a:p>
            <a:r>
              <a:rPr lang="en-US" dirty="0">
                <a:latin typeface="Times New Roman" panose="02020603050405020304" pitchFamily="18" charset="0"/>
                <a:cs typeface="Times New Roman" panose="02020603050405020304" pitchFamily="18" charset="0"/>
              </a:rPr>
              <a:t>Problem Statement</a:t>
            </a:r>
          </a:p>
          <a:p>
            <a:r>
              <a:rPr lang="en-US" dirty="0">
                <a:latin typeface="Times New Roman" panose="02020603050405020304" pitchFamily="18" charset="0"/>
                <a:cs typeface="Times New Roman" panose="02020603050405020304" pitchFamily="18" charset="0"/>
              </a:rPr>
              <a:t>System Design &amp; Workflow</a:t>
            </a:r>
          </a:p>
          <a:p>
            <a:r>
              <a:rPr lang="en-US" dirty="0">
                <a:latin typeface="Times New Roman" panose="02020603050405020304" pitchFamily="18" charset="0"/>
                <a:cs typeface="Times New Roman" panose="02020603050405020304" pitchFamily="18" charset="0"/>
              </a:rPr>
              <a:t>Technologies &amp; Methodologies</a:t>
            </a:r>
          </a:p>
          <a:p>
            <a:r>
              <a:rPr lang="en-US" dirty="0">
                <a:latin typeface="Times New Roman" panose="02020603050405020304" pitchFamily="18" charset="0"/>
                <a:cs typeface="Times New Roman" panose="02020603050405020304" pitchFamily="18" charset="0"/>
              </a:rPr>
              <a:t>Implementation Screenshots</a:t>
            </a:r>
          </a:p>
          <a:p>
            <a:r>
              <a:rPr lang="en-US" dirty="0">
                <a:latin typeface="Times New Roman" panose="02020603050405020304" pitchFamily="18" charset="0"/>
                <a:cs typeface="Times New Roman" panose="02020603050405020304" pitchFamily="18" charset="0"/>
              </a:rPr>
              <a:t>Conclusion</a:t>
            </a:r>
          </a:p>
          <a:p>
            <a:r>
              <a:rPr lang="en-IN"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4237525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EE8AE-AA5B-5721-3E92-A913CD0C80B0}"/>
              </a:ext>
            </a:extLst>
          </p:cNvPr>
          <p:cNvSpPr>
            <a:spLocks noGrp="1"/>
          </p:cNvSpPr>
          <p:nvPr>
            <p:ph type="title"/>
          </p:nvPr>
        </p:nvSpPr>
        <p:spPr>
          <a:xfrm>
            <a:off x="838200" y="18255"/>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Introduction: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6541FC-3148-2651-D98D-C636D57877D7}"/>
              </a:ext>
            </a:extLst>
          </p:cNvPr>
          <p:cNvSpPr>
            <a:spLocks noGrp="1"/>
          </p:cNvSpPr>
          <p:nvPr>
            <p:ph idx="1"/>
          </p:nvPr>
        </p:nvSpPr>
        <p:spPr>
          <a:xfrm>
            <a:off x="838200" y="1018355"/>
            <a:ext cx="10515600" cy="5517913"/>
          </a:xfrm>
        </p:spPr>
        <p:txBody>
          <a:bodyPr>
            <a:noAutofit/>
          </a:bodyPr>
          <a:lstStyle/>
          <a:p>
            <a:pPr marL="317500" indent="-304800">
              <a:lnSpc>
                <a:spcPct val="100000"/>
              </a:lnSpc>
              <a:spcBef>
                <a:spcPts val="565"/>
              </a:spcBef>
              <a:buFont typeface="Times New Roman"/>
              <a:buAutoNum type="arabicPeriod"/>
              <a:tabLst>
                <a:tab pos="317500" algn="l"/>
              </a:tabLst>
            </a:pPr>
            <a:r>
              <a:rPr lang="en-US" dirty="0">
                <a:latin typeface="Times New Roman" panose="02020603050405020304" pitchFamily="18" charset="0"/>
                <a:cs typeface="Times New Roman" panose="02020603050405020304" pitchFamily="18" charset="0"/>
              </a:rPr>
              <a:t>Overview</a:t>
            </a:r>
            <a:r>
              <a:rPr lang="en-US" spc="-5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of</a:t>
            </a:r>
            <a:r>
              <a:rPr lang="en-US" spc="-2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a:t>
            </a:r>
            <a:r>
              <a:rPr lang="en-US" spc="-30"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Project</a:t>
            </a:r>
          </a:p>
          <a:p>
            <a:pPr marL="317500" marR="106680" lvl="1" indent="-305435" algn="just">
              <a:lnSpc>
                <a:spcPct val="115799"/>
              </a:lnSpc>
              <a:spcBef>
                <a:spcPts val="5"/>
              </a:spcBef>
              <a:tabLst>
                <a:tab pos="317500" algn="l"/>
                <a:tab pos="355600" algn="l"/>
              </a:tabLst>
            </a:pPr>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This project uses AI and 3D rendering to convert medical scans (CT) into interactive 3D models. Users can view, rotate, and annotate anatomical structures through a web interface, improving diagnosis, surgical planning, and medical education.</a:t>
            </a:r>
          </a:p>
          <a:p>
            <a:pPr marL="0" indent="0">
              <a:lnSpc>
                <a:spcPct val="100000"/>
              </a:lnSpc>
              <a:spcBef>
                <a:spcPts val="1500"/>
              </a:spcBef>
              <a:buNone/>
            </a:pPr>
            <a:endParaRPr lang="en-US" sz="2600" dirty="0">
              <a:latin typeface="Times New Roman" panose="02020603050405020304" pitchFamily="18" charset="0"/>
              <a:cs typeface="Times New Roman" panose="02020603050405020304" pitchFamily="18" charset="0"/>
            </a:endParaRPr>
          </a:p>
          <a:p>
            <a:pPr marL="317500" indent="-304800">
              <a:lnSpc>
                <a:spcPct val="100000"/>
              </a:lnSpc>
              <a:spcBef>
                <a:spcPts val="5"/>
              </a:spcBef>
              <a:buAutoNum type="arabicPeriod" startAt="2"/>
              <a:tabLst>
                <a:tab pos="317500" algn="l"/>
              </a:tabLst>
            </a:pPr>
            <a:r>
              <a:rPr lang="en-US" spc="-10" dirty="0">
                <a:latin typeface="Times New Roman" panose="02020603050405020304" pitchFamily="18" charset="0"/>
                <a:cs typeface="Times New Roman" panose="02020603050405020304" pitchFamily="18" charset="0"/>
              </a:rPr>
              <a:t>Motivation/Inspiration</a:t>
            </a:r>
          </a:p>
          <a:p>
            <a:pPr marL="341630" marR="5080" lvl="1" indent="-329565">
              <a:lnSpc>
                <a:spcPct val="115700"/>
              </a:lnSpc>
              <a:spcBef>
                <a:spcPts val="5"/>
              </a:spcBef>
              <a:tabLst>
                <a:tab pos="341630" algn="l"/>
                <a:tab pos="355600" algn="l"/>
              </a:tabLst>
            </a:pPr>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Traditional 2D scans can be hard to interpret. This tool was inspired by the need for clearer, interactive visuals and AI support to enhance accuracy, reduce errors, and improve learning in medical settings.</a:t>
            </a:r>
            <a:endParaRPr lang="en-US" sz="2600" dirty="0">
              <a:latin typeface="Times New Roman" panose="02020603050405020304" pitchFamily="18" charset="0"/>
              <a:cs typeface="Times New Roman" panose="02020603050405020304" pitchFamily="18" charset="0"/>
            </a:endParaRPr>
          </a:p>
          <a:p>
            <a:pPr marL="0" indent="0" algn="just">
              <a:lnSpc>
                <a:spcPts val="3400"/>
              </a:lnSpc>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3868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6AD99-FAFD-D094-9765-E187E27E11F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Sustainable Development Goal:</a:t>
            </a:r>
            <a:endParaRPr lang="en-IN" dirty="0"/>
          </a:p>
        </p:txBody>
      </p:sp>
      <p:sp>
        <p:nvSpPr>
          <p:cNvPr id="3" name="Content Placeholder 2">
            <a:extLst>
              <a:ext uri="{FF2B5EF4-FFF2-40B4-BE49-F238E27FC236}">
                <a16:creationId xmlns:a16="http://schemas.microsoft.com/office/drawing/2014/main" id="{780691DE-B151-4DB1-19C9-4CD617B6D125}"/>
              </a:ext>
            </a:extLst>
          </p:cNvPr>
          <p:cNvSpPr>
            <a:spLocks noGrp="1"/>
          </p:cNvSpPr>
          <p:nvPr>
            <p:ph idx="1"/>
          </p:nvPr>
        </p:nvSpPr>
        <p:spPr>
          <a:xfrm>
            <a:off x="838200" y="1825625"/>
            <a:ext cx="6645441" cy="4351338"/>
          </a:xfrm>
        </p:spPr>
        <p:txBody>
          <a:bodyPr>
            <a:normAutofit fontScale="77500" lnSpcReduction="20000"/>
          </a:bodyPr>
          <a:lstStyle/>
          <a:p>
            <a:pPr marL="0" indent="0">
              <a:buNone/>
            </a:pPr>
            <a:r>
              <a:rPr lang="en-US" sz="2400" b="1" dirty="0"/>
              <a:t>SDG 3: Good Health and Well-Being</a:t>
            </a:r>
            <a:endParaRPr lang="en-US" sz="2400" dirty="0"/>
          </a:p>
          <a:p>
            <a:r>
              <a:rPr lang="en-US" sz="2400" dirty="0"/>
              <a:t>The tool aids in early detection of lung diseases (like tumors, nodules, or other anomalies in CT scans).</a:t>
            </a:r>
          </a:p>
          <a:p>
            <a:r>
              <a:rPr lang="en-US" sz="2400" dirty="0"/>
              <a:t>By visualizing anomalies in 3D, doctors and researchers can make more accurate diagnoses and treatment plans.</a:t>
            </a:r>
          </a:p>
          <a:p>
            <a:r>
              <a:rPr lang="en-US" sz="2400" dirty="0"/>
              <a:t>Helps reduce misdiagnosis and improve patient survival rates.</a:t>
            </a:r>
          </a:p>
          <a:p>
            <a:pPr marL="0" indent="0">
              <a:buNone/>
            </a:pPr>
            <a:endParaRPr lang="en-US" sz="2400" dirty="0"/>
          </a:p>
          <a:p>
            <a:pPr marL="0" indent="0">
              <a:buNone/>
            </a:pPr>
            <a:r>
              <a:rPr lang="en-US" sz="2400" b="1" dirty="0"/>
              <a:t>SDG 9: Industry, Innovation, and Infrastructure</a:t>
            </a:r>
            <a:endParaRPr lang="en-US" sz="2400" dirty="0"/>
          </a:p>
          <a:p>
            <a:r>
              <a:rPr lang="en-US" sz="2400" dirty="0"/>
              <a:t>Uses AI, deep learning, and visualization technologies to advance healthcare innovation.</a:t>
            </a:r>
          </a:p>
          <a:p>
            <a:r>
              <a:rPr lang="en-US" sz="2400" dirty="0"/>
              <a:t>Promotes the development of digital medical infrastructure, enabling hospitals and labs to adopt smarter diagnostic workflows.</a:t>
            </a:r>
          </a:p>
          <a:p>
            <a:r>
              <a:rPr lang="en-US" sz="2400" dirty="0"/>
              <a:t>Encourages research–industry collaborations in health tech.</a:t>
            </a:r>
          </a:p>
          <a:p>
            <a:pPr marL="0" indent="0">
              <a:buNone/>
            </a:pPr>
            <a:r>
              <a:rPr lang="en-US" sz="2400" dirty="0"/>
              <a:t>.</a:t>
            </a:r>
          </a:p>
          <a:p>
            <a:pPr marL="0" indent="0" algn="just">
              <a:lnSpc>
                <a:spcPct val="150000"/>
              </a:lnSpc>
              <a:spcBef>
                <a:spcPts val="0"/>
              </a:spcBef>
              <a:buNone/>
            </a:pP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AAF4AF1-8044-6071-B543-1BA41B65F5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2772" y="2317966"/>
            <a:ext cx="4271892" cy="3366655"/>
          </a:xfrm>
          <a:prstGeom prst="rect">
            <a:avLst/>
          </a:prstGeom>
        </p:spPr>
      </p:pic>
    </p:spTree>
    <p:extLst>
      <p:ext uri="{BB962C8B-B14F-4D97-AF65-F5344CB8AC3E}">
        <p14:creationId xmlns:p14="http://schemas.microsoft.com/office/powerpoint/2010/main" val="3123499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C646A9-8DA9-1706-EAFB-B96A21A7C1F5}"/>
              </a:ext>
            </a:extLst>
          </p:cNvPr>
          <p:cNvSpPr txBox="1"/>
          <p:nvPr/>
        </p:nvSpPr>
        <p:spPr>
          <a:xfrm>
            <a:off x="265279" y="211937"/>
            <a:ext cx="11364686"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Literature survey:</a:t>
            </a:r>
          </a:p>
        </p:txBody>
      </p:sp>
      <p:graphicFrame>
        <p:nvGraphicFramePr>
          <p:cNvPr id="3" name="Table 2">
            <a:extLst>
              <a:ext uri="{FF2B5EF4-FFF2-40B4-BE49-F238E27FC236}">
                <a16:creationId xmlns:a16="http://schemas.microsoft.com/office/drawing/2014/main" id="{FB870E80-8D1A-4100-816A-5A159A81A008}"/>
              </a:ext>
            </a:extLst>
          </p:cNvPr>
          <p:cNvGraphicFramePr>
            <a:graphicFrameLocks noGrp="1"/>
          </p:cNvGraphicFramePr>
          <p:nvPr>
            <p:extLst>
              <p:ext uri="{D42A27DB-BD31-4B8C-83A1-F6EECF244321}">
                <p14:modId xmlns:p14="http://schemas.microsoft.com/office/powerpoint/2010/main" val="697581422"/>
              </p:ext>
            </p:extLst>
          </p:nvPr>
        </p:nvGraphicFramePr>
        <p:xfrm>
          <a:off x="214480" y="986324"/>
          <a:ext cx="11777817" cy="5808140"/>
        </p:xfrm>
        <a:graphic>
          <a:graphicData uri="http://schemas.openxmlformats.org/drawingml/2006/table">
            <a:tbl>
              <a:tblPr firstRow="1" firstCol="1" bandRow="1">
                <a:tableStyleId>{7DF18680-E054-41AD-8BC1-D1AEF772440D}</a:tableStyleId>
              </a:tblPr>
              <a:tblGrid>
                <a:gridCol w="3121388">
                  <a:extLst>
                    <a:ext uri="{9D8B030D-6E8A-4147-A177-3AD203B41FA5}">
                      <a16:colId xmlns:a16="http://schemas.microsoft.com/office/drawing/2014/main" val="610998625"/>
                    </a:ext>
                  </a:extLst>
                </a:gridCol>
                <a:gridCol w="1761066">
                  <a:extLst>
                    <a:ext uri="{9D8B030D-6E8A-4147-A177-3AD203B41FA5}">
                      <a16:colId xmlns:a16="http://schemas.microsoft.com/office/drawing/2014/main" val="3412370977"/>
                    </a:ext>
                  </a:extLst>
                </a:gridCol>
                <a:gridCol w="4213017">
                  <a:extLst>
                    <a:ext uri="{9D8B030D-6E8A-4147-A177-3AD203B41FA5}">
                      <a16:colId xmlns:a16="http://schemas.microsoft.com/office/drawing/2014/main" val="4078034592"/>
                    </a:ext>
                  </a:extLst>
                </a:gridCol>
                <a:gridCol w="2682346">
                  <a:extLst>
                    <a:ext uri="{9D8B030D-6E8A-4147-A177-3AD203B41FA5}">
                      <a16:colId xmlns:a16="http://schemas.microsoft.com/office/drawing/2014/main" val="313881985"/>
                    </a:ext>
                  </a:extLst>
                </a:gridCol>
              </a:tblGrid>
              <a:tr h="740840">
                <a:tc>
                  <a:txBody>
                    <a:bodyPr/>
                    <a:lstStyle/>
                    <a:p>
                      <a:pPr algn="ctr">
                        <a:lnSpc>
                          <a:spcPct val="107000"/>
                        </a:lnSpc>
                        <a:spcAft>
                          <a:spcPts val="0"/>
                        </a:spcAft>
                      </a:pPr>
                      <a:r>
                        <a:rPr lang="en-IN" sz="1600" b="1" dirty="0">
                          <a:effectLst/>
                          <a:latin typeface="Times New Roman" panose="02020603050405020304" pitchFamily="18" charset="0"/>
                          <a:ea typeface="Calibri" panose="020F0502020204030204" pitchFamily="34" charset="0"/>
                          <a:cs typeface="Times New Roman" panose="02020603050405020304" pitchFamily="18" charset="0"/>
                        </a:rPr>
                        <a:t>Title</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Year of  Release</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IN" sz="1600" b="1" dirty="0">
                          <a:effectLst/>
                          <a:latin typeface="Times New Roman" panose="02020603050405020304" pitchFamily="18" charset="0"/>
                          <a:ea typeface="Calibri" panose="020F0502020204030204" pitchFamily="34" charset="0"/>
                          <a:cs typeface="Times New Roman" panose="02020603050405020304" pitchFamily="18" charset="0"/>
                        </a:rPr>
                        <a:t>Key Points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IN" sz="1600" b="1">
                          <a:effectLst/>
                          <a:latin typeface="Times New Roman" panose="02020603050405020304" pitchFamily="18" charset="0"/>
                          <a:ea typeface="Calibri" panose="020F0502020204030204" pitchFamily="34" charset="0"/>
                          <a:cs typeface="Times New Roman" panose="02020603050405020304" pitchFamily="18" charset="0"/>
                        </a:rPr>
                        <a:t>Improvements Proposed</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44298548"/>
                  </a:ext>
                </a:extLst>
              </a:tr>
              <a:tr h="1180442">
                <a:tc>
                  <a:txBody>
                    <a:bodyPr/>
                    <a:lstStyle/>
                    <a:p>
                      <a:pPr algn="just">
                        <a:lnSpc>
                          <a:spcPts val="2400"/>
                        </a:lnSpc>
                        <a:spcAft>
                          <a:spcPts val="0"/>
                        </a:spcAft>
                      </a:pPr>
                      <a:r>
                        <a:rPr lang="en-US" sz="1600" i="1" dirty="0">
                          <a:latin typeface="Times New Roman" panose="02020603050405020304" pitchFamily="18" charset="0"/>
                          <a:cs typeface="Times New Roman" panose="02020603050405020304" pitchFamily="18" charset="0"/>
                        </a:rPr>
                        <a:t>Segmentation and Image Analysis of Abnormal Lungs at CT</a:t>
                      </a:r>
                      <a:r>
                        <a:rPr lang="en-US" sz="1600" dirty="0">
                          <a:latin typeface="Times New Roman" panose="02020603050405020304" pitchFamily="18" charset="0"/>
                          <a:cs typeface="Times New Roman" panose="02020603050405020304" pitchFamily="18" charset="0"/>
                        </a:rPr>
                        <a:t> </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ts val="2400"/>
                        </a:lnSpc>
                        <a:spcAft>
                          <a:spcPts val="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2015</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indent="0" algn="just">
                        <a:lnSpc>
                          <a:spcPts val="2400"/>
                        </a:lnSpc>
                        <a:spcAft>
                          <a:spcPts val="0"/>
                        </a:spcAft>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Review of lung CT segmentation methods (thresholding, morphology, deformable models). Explains limitations of simple thresholding when pathology is present.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ts val="2400"/>
                        </a:lnSpc>
                        <a:spcAft>
                          <a:spcPts val="0"/>
                        </a:spcAft>
                      </a:pPr>
                      <a:r>
                        <a:rPr lang="en-US" sz="1600" dirty="0">
                          <a:latin typeface="Times New Roman" panose="02020603050405020304" pitchFamily="18" charset="0"/>
                          <a:cs typeface="Times New Roman" panose="02020603050405020304" pitchFamily="18" charset="0"/>
                        </a:rPr>
                        <a:t>Suggests hybrid methods combining anatomy priors + robust algorithms for better handling of diseased lungs.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60932709"/>
                  </a:ext>
                </a:extLst>
              </a:tr>
              <a:tr h="1481447">
                <a:tc>
                  <a:txBody>
                    <a:bodyPr/>
                    <a:lstStyle/>
                    <a:p>
                      <a:pPr algn="just">
                        <a:lnSpc>
                          <a:spcPts val="2400"/>
                        </a:lnSpc>
                        <a:spcAft>
                          <a:spcPts val="0"/>
                        </a:spcAft>
                      </a:pPr>
                      <a:r>
                        <a:rPr lang="en-US" sz="1600" dirty="0">
                          <a:latin typeface="Times New Roman" panose="02020603050405020304" pitchFamily="18" charset="0"/>
                          <a:cs typeface="Times New Roman" panose="02020603050405020304" pitchFamily="18" charset="0"/>
                        </a:rPr>
                        <a:t>LGAN: Lung Segmentation in CT Scans Using Generative Adversarial Network</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ts val="2400"/>
                        </a:lnSpc>
                        <a:spcAft>
                          <a:spcPts val="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2019</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indent="0" algn="just">
                        <a:lnSpc>
                          <a:spcPts val="2400"/>
                        </a:lnSpc>
                        <a:spcAft>
                          <a:spcPts val="0"/>
                        </a:spcAft>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GAN-based lung segmentation method; better automation than rule-based pipelines. Evaluated on CT scans.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ts val="2400"/>
                        </a:lnSpc>
                        <a:spcAft>
                          <a:spcPts val="0"/>
                        </a:spcAft>
                      </a:pPr>
                      <a:r>
                        <a:rPr lang="en-US" sz="1600" dirty="0">
                          <a:latin typeface="Times New Roman" panose="02020603050405020304" pitchFamily="18" charset="0"/>
                          <a:cs typeface="Times New Roman" panose="02020603050405020304" pitchFamily="18" charset="0"/>
                        </a:rPr>
                        <a:t>Improves segmentation accuracy; limitations in GAN stability and dataset diversity. Proposes hybridization with classical methods.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32138213"/>
                  </a:ext>
                </a:extLst>
              </a:tr>
              <a:tr h="1180442">
                <a:tc>
                  <a:txBody>
                    <a:bodyPr/>
                    <a:lstStyle/>
                    <a:p>
                      <a:pPr algn="just">
                        <a:lnSpc>
                          <a:spcPts val="2400"/>
                        </a:lnSpc>
                        <a:spcAft>
                          <a:spcPts val="0"/>
                        </a:spcAft>
                      </a:pPr>
                      <a:r>
                        <a:rPr lang="en-US" sz="1600" dirty="0">
                          <a:latin typeface="Times New Roman" panose="02020603050405020304" pitchFamily="18" charset="0"/>
                          <a:cs typeface="Times New Roman" panose="02020603050405020304" pitchFamily="18" charset="0"/>
                        </a:rPr>
                        <a:t>Anomaly detection scheme for lung CT images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ts val="2400"/>
                        </a:lnSpc>
                        <a:spcAft>
                          <a:spcPts val="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          2024</a:t>
                      </a:r>
                    </a:p>
                  </a:txBody>
                  <a:tcPr marL="68580" marR="68580" marT="0" marB="0"/>
                </a:tc>
                <a:tc>
                  <a:txBody>
                    <a:bodyPr/>
                    <a:lstStyle/>
                    <a:p>
                      <a:pPr marL="0" indent="0" algn="just">
                        <a:lnSpc>
                          <a:spcPts val="2400"/>
                        </a:lnSpc>
                        <a:spcAft>
                          <a:spcPts val="0"/>
                        </a:spcAft>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CT-based anomaly detection; detects lesions deviating from “normal” patterns.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ts val="2400"/>
                        </a:lnSpc>
                        <a:spcAft>
                          <a:spcPts val="0"/>
                        </a:spcAft>
                      </a:pPr>
                      <a:r>
                        <a:rPr lang="en-US" sz="1600" dirty="0">
                          <a:latin typeface="Times New Roman" panose="02020603050405020304" pitchFamily="18" charset="0"/>
                          <a:cs typeface="Times New Roman" panose="02020603050405020304" pitchFamily="18" charset="0"/>
                        </a:rPr>
                        <a:t>Proposes refinement of thresholds + shape filters to reduce false positives (similar to your size-based filtering).</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15124275"/>
                  </a:ext>
                </a:extLst>
              </a:tr>
              <a:tr h="1180442">
                <a:tc>
                  <a:txBody>
                    <a:bodyPr/>
                    <a:lstStyle/>
                    <a:p>
                      <a:pPr algn="just">
                        <a:lnSpc>
                          <a:spcPts val="2400"/>
                        </a:lnSpc>
                        <a:spcAft>
                          <a:spcPts val="0"/>
                        </a:spcAft>
                      </a:pPr>
                      <a:r>
                        <a:rPr lang="en-US" sz="1600" dirty="0">
                          <a:latin typeface="Times New Roman" panose="02020603050405020304" pitchFamily="18" charset="0"/>
                          <a:cs typeface="Times New Roman" panose="02020603050405020304" pitchFamily="18" charset="0"/>
                        </a:rPr>
                        <a:t>Improved unsupervised 3D lung lesion detection in low-dose CT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ts val="2400"/>
                        </a:lnSpc>
                        <a:spcAft>
                          <a:spcPts val="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2025</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indent="0" algn="just">
                        <a:lnSpc>
                          <a:spcPts val="2400"/>
                        </a:lnSpc>
                        <a:spcAft>
                          <a:spcPts val="0"/>
                        </a:spcAft>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Detects lung lesions in 3D CT volumes using unsupervised anomaly learning.</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ts val="2400"/>
                        </a:lnSpc>
                        <a:spcAft>
                          <a:spcPts val="0"/>
                        </a:spcAft>
                      </a:pPr>
                      <a:r>
                        <a:rPr lang="en-US" sz="1600" dirty="0">
                          <a:latin typeface="Times New Roman" panose="02020603050405020304" pitchFamily="18" charset="0"/>
                          <a:cs typeface="Times New Roman" panose="02020603050405020304" pitchFamily="18" charset="0"/>
                        </a:rPr>
                        <a:t>Reduces dependence on annotated </a:t>
                      </a:r>
                      <a:r>
                        <a:rPr lang="en-US" sz="1600" dirty="0" err="1">
                          <a:latin typeface="Times New Roman" panose="02020603050405020304" pitchFamily="18" charset="0"/>
                          <a:cs typeface="Times New Roman" panose="02020603050405020304" pitchFamily="18" charset="0"/>
                        </a:rPr>
                        <a:t>datasets;proposes</a:t>
                      </a:r>
                      <a:r>
                        <a:rPr lang="en-US" sz="1600" dirty="0">
                          <a:latin typeface="Times New Roman" panose="02020603050405020304" pitchFamily="18" charset="0"/>
                          <a:cs typeface="Times New Roman" panose="02020603050405020304" pitchFamily="18" charset="0"/>
                        </a:rPr>
                        <a:t> hybrid supervised + </a:t>
                      </a:r>
                      <a:r>
                        <a:rPr lang="en-US" sz="1600" dirty="0" err="1">
                          <a:latin typeface="Times New Roman" panose="02020603050405020304" pitchFamily="18" charset="0"/>
                          <a:cs typeface="Times New Roman" panose="02020603050405020304" pitchFamily="18" charset="0"/>
                        </a:rPr>
                        <a:t>unsuper</a:t>
                      </a:r>
                      <a:r>
                        <a:rPr lang="en-US" sz="1600" dirty="0">
                          <a:latin typeface="Times New Roman" panose="02020603050405020304" pitchFamily="18" charset="0"/>
                          <a:cs typeface="Times New Roman" panose="02020603050405020304" pitchFamily="18" charset="0"/>
                        </a:rPr>
                        <a:t>-</a:t>
                      </a:r>
                    </a:p>
                    <a:p>
                      <a:pPr algn="just">
                        <a:lnSpc>
                          <a:spcPts val="2400"/>
                        </a:lnSpc>
                        <a:spcAft>
                          <a:spcPts val="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vised learning.</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82501551"/>
                  </a:ext>
                </a:extLst>
              </a:tr>
            </a:tbl>
          </a:graphicData>
        </a:graphic>
      </p:graphicFrame>
    </p:spTree>
    <p:extLst>
      <p:ext uri="{BB962C8B-B14F-4D97-AF65-F5344CB8AC3E}">
        <p14:creationId xmlns:p14="http://schemas.microsoft.com/office/powerpoint/2010/main" val="671566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86306-F080-625D-8F4D-55EF907E5214}"/>
              </a:ext>
            </a:extLst>
          </p:cNvPr>
          <p:cNvSpPr>
            <a:spLocks noGrp="1"/>
          </p:cNvSpPr>
          <p:nvPr>
            <p:ph type="title"/>
          </p:nvPr>
        </p:nvSpPr>
        <p:spPr>
          <a:xfrm>
            <a:off x="838200" y="365125"/>
            <a:ext cx="10515600" cy="1342377"/>
          </a:xfrm>
        </p:spPr>
        <p:txBody>
          <a:bodyPr/>
          <a:lstStyle/>
          <a:p>
            <a:r>
              <a:rPr lang="en-US" sz="4000" b="1" dirty="0">
                <a:latin typeface="Times New Roman" panose="02020603050405020304" pitchFamily="18" charset="0"/>
                <a:cs typeface="Times New Roman" panose="02020603050405020304" pitchFamily="18" charset="0"/>
              </a:rPr>
              <a:t>Limitations in existing systems:</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29A58BD-EFC0-91A6-3562-AB85EB06859E}"/>
              </a:ext>
            </a:extLst>
          </p:cNvPr>
          <p:cNvSpPr>
            <a:spLocks noGrp="1"/>
          </p:cNvSpPr>
          <p:nvPr>
            <p:ph idx="1"/>
          </p:nvPr>
        </p:nvSpPr>
        <p:spPr>
          <a:xfrm>
            <a:off x="838200" y="1371604"/>
            <a:ext cx="10515600" cy="4397430"/>
          </a:xfrm>
        </p:spPr>
        <p:txBody>
          <a:bodyPr>
            <a:normAutofit/>
          </a:bodyPr>
          <a:lstStyle/>
          <a:p>
            <a:pPr>
              <a:lnSpc>
                <a:spcPct val="200000"/>
              </a:lnSpc>
            </a:pPr>
            <a:r>
              <a:rPr lang="en-US" sz="2400" dirty="0">
                <a:latin typeface="Times New Roman" panose="02020603050405020304" pitchFamily="18" charset="0"/>
                <a:cs typeface="Times New Roman" panose="02020603050405020304" pitchFamily="18" charset="0"/>
              </a:rPr>
              <a:t>Low Accuracy in Diseased Lungs </a:t>
            </a:r>
            <a:r>
              <a:rPr lang="en-IN" sz="2400" dirty="0">
                <a:latin typeface="Times New Roman" panose="02020603050405020304" pitchFamily="18" charset="0"/>
                <a:cs typeface="Times New Roman" panose="02020603050405020304" pitchFamily="18" charset="0"/>
              </a:rPr>
              <a:t>Struggles </a:t>
            </a:r>
          </a:p>
          <a:p>
            <a:pPr>
              <a:lnSpc>
                <a:spcPct val="200000"/>
              </a:lnSpc>
            </a:pPr>
            <a:r>
              <a:rPr lang="en-US" sz="2400" dirty="0">
                <a:latin typeface="Times New Roman" panose="02020603050405020304" pitchFamily="18" charset="0"/>
                <a:cs typeface="Times New Roman" panose="02020603050405020304" pitchFamily="18" charset="0"/>
              </a:rPr>
              <a:t>High False Positives in Anomaly Detection</a:t>
            </a:r>
          </a:p>
          <a:p>
            <a:pPr>
              <a:lnSpc>
                <a:spcPct val="200000"/>
              </a:lnSpc>
            </a:pPr>
            <a:r>
              <a:rPr lang="en-IN" sz="2400" dirty="0">
                <a:latin typeface="Times New Roman" panose="02020603050405020304" pitchFamily="18" charset="0"/>
                <a:cs typeface="Times New Roman" panose="02020603050405020304" pitchFamily="18" charset="0"/>
              </a:rPr>
              <a:t>Limited 3D Visualization</a:t>
            </a:r>
          </a:p>
          <a:p>
            <a:pPr>
              <a:lnSpc>
                <a:spcPct val="200000"/>
              </a:lnSpc>
            </a:pPr>
            <a:r>
              <a:rPr lang="en-US" sz="2400" dirty="0">
                <a:latin typeface="Times New Roman" panose="02020603050405020304" pitchFamily="18" charset="0"/>
                <a:cs typeface="Times New Roman" panose="02020603050405020304" pitchFamily="18" charset="0"/>
              </a:rPr>
              <a:t>Dependence on Large Labeled Datasets</a:t>
            </a:r>
          </a:p>
          <a:p>
            <a:pPr>
              <a:lnSpc>
                <a:spcPct val="200000"/>
              </a:lnSpc>
            </a:pPr>
            <a:r>
              <a:rPr lang="en-US" sz="2400" dirty="0">
                <a:latin typeface="Times New Roman" panose="02020603050405020304" pitchFamily="18" charset="0"/>
                <a:cs typeface="Times New Roman" panose="02020603050405020304" pitchFamily="18" charset="0"/>
              </a:rPr>
              <a:t>Slow Processing and Heavy Computation</a:t>
            </a:r>
          </a:p>
        </p:txBody>
      </p:sp>
    </p:spTree>
    <p:extLst>
      <p:ext uri="{BB962C8B-B14F-4D97-AF65-F5344CB8AC3E}">
        <p14:creationId xmlns:p14="http://schemas.microsoft.com/office/powerpoint/2010/main" val="3243514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EE8AE-AA5B-5721-3E92-A913CD0C80B0}"/>
              </a:ext>
            </a:extLst>
          </p:cNvPr>
          <p:cNvSpPr>
            <a:spLocks noGrp="1"/>
          </p:cNvSpPr>
          <p:nvPr>
            <p:ph type="title"/>
          </p:nvPr>
        </p:nvSpPr>
        <p:spPr>
          <a:xfrm>
            <a:off x="838200" y="253746"/>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Problem Statement: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6541FC-3148-2651-D98D-C636D57877D7}"/>
              </a:ext>
            </a:extLst>
          </p:cNvPr>
          <p:cNvSpPr>
            <a:spLocks noGrp="1"/>
          </p:cNvSpPr>
          <p:nvPr>
            <p:ph idx="1"/>
          </p:nvPr>
        </p:nvSpPr>
        <p:spPr>
          <a:xfrm>
            <a:off x="838200" y="1727273"/>
            <a:ext cx="10515600" cy="3403453"/>
          </a:xfrm>
        </p:spPr>
        <p:txBody>
          <a:bodyPr>
            <a:no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Analyzing CT scans manually is slow, error-prone, and limited to 2D slice review, which increases the risk of missing critical anomalies. Existing methods struggle with diseased lungs, lack real-time 3D visualization, and are not well integrated into clinical workflows. Hence, there is a need for an AI-powered system that automates lung segmentation, detects anomalies, and provides interactive 3D visualization for faster and more accurate diagnosis.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550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EE8AE-AA5B-5721-3E92-A913CD0C80B0}"/>
              </a:ext>
            </a:extLst>
          </p:cNvPr>
          <p:cNvSpPr>
            <a:spLocks noGrp="1"/>
          </p:cNvSpPr>
          <p:nvPr>
            <p:ph type="title"/>
          </p:nvPr>
        </p:nvSpPr>
        <p:spPr>
          <a:xfrm>
            <a:off x="439190" y="0"/>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System Design: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6541FC-3148-2651-D98D-C636D57877D7}"/>
              </a:ext>
            </a:extLst>
          </p:cNvPr>
          <p:cNvSpPr>
            <a:spLocks noGrp="1"/>
          </p:cNvSpPr>
          <p:nvPr>
            <p:ph idx="1"/>
          </p:nvPr>
        </p:nvSpPr>
        <p:spPr>
          <a:xfrm>
            <a:off x="504998" y="1097178"/>
            <a:ext cx="11247811" cy="5636131"/>
          </a:xfrm>
        </p:spPr>
        <p:txBody>
          <a:bodyPr>
            <a:noAutofit/>
          </a:bodyPr>
          <a:lstStyle/>
          <a:p>
            <a:r>
              <a:rPr lang="en-IN" sz="2000" b="1" dirty="0">
                <a:latin typeface="Times New Roman" panose="02020603050405020304" pitchFamily="18" charset="0"/>
                <a:cs typeface="Times New Roman" panose="02020603050405020304" pitchFamily="18" charset="0"/>
              </a:rPr>
              <a:t>Input</a:t>
            </a: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  CT Scan files (.</a:t>
            </a:r>
            <a:r>
              <a:rPr lang="en-IN" sz="2000" dirty="0" err="1">
                <a:latin typeface="Times New Roman" panose="02020603050405020304" pitchFamily="18" charset="0"/>
                <a:cs typeface="Times New Roman" panose="02020603050405020304" pitchFamily="18" charset="0"/>
              </a:rPr>
              <a:t>mhd</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zraw</a:t>
            </a:r>
            <a:r>
              <a:rPr lang="en-IN" sz="2000" dirty="0">
                <a:latin typeface="Times New Roman" panose="02020603050405020304" pitchFamily="18" charset="0"/>
                <a:cs typeface="Times New Roman" panose="02020603050405020304" pitchFamily="18" charset="0"/>
              </a:rPr>
              <a:t>) uploaded via Browser</a:t>
            </a:r>
          </a:p>
          <a:p>
            <a:pPr marL="0" indent="0">
              <a:buNone/>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Pre-Processing</a:t>
            </a: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000" dirty="0" err="1">
                <a:latin typeface="Times New Roman" panose="02020603050405020304" pitchFamily="18" charset="0"/>
                <a:cs typeface="Times New Roman" panose="02020603050405020304" pitchFamily="18" charset="0"/>
              </a:rPr>
              <a:t>Downsampling</a:t>
            </a: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Lung Segmentation (Threshold + Morphology)</a:t>
            </a:r>
          </a:p>
          <a:p>
            <a:pPr>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Contrast Enhancement (Gamma Correction)</a:t>
            </a:r>
          </a:p>
          <a:p>
            <a:pPr marL="0" indent="0">
              <a:buNone/>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Analysis</a:t>
            </a: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Anomaly Detection (High-density regions)</a:t>
            </a:r>
          </a:p>
          <a:p>
            <a:pPr>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Nodule Matching (CSV Annotations)</a:t>
            </a:r>
          </a:p>
          <a:p>
            <a:pPr>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Evaluation (TP, FP, FN)</a:t>
            </a:r>
          </a:p>
          <a:p>
            <a:pPr marL="0" indent="0">
              <a:buNone/>
            </a:pPr>
            <a:endParaRPr lang="en-IN" sz="2000" dirty="0"/>
          </a:p>
          <a:p>
            <a:pPr marL="0" indent="0" algn="just">
              <a:lnSpc>
                <a:spcPct val="100000"/>
              </a:lnSpc>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4121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ACFFEDA-5DF7-D513-8872-A9749D58A9CC}"/>
              </a:ext>
            </a:extLst>
          </p:cNvPr>
          <p:cNvSpPr txBox="1"/>
          <p:nvPr/>
        </p:nvSpPr>
        <p:spPr>
          <a:xfrm>
            <a:off x="429208" y="298580"/>
            <a:ext cx="11318033"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System Workflow:</a:t>
            </a:r>
            <a:r>
              <a:rPr lang="en-US" sz="4000" dirty="0">
                <a:latin typeface="Times New Roman" panose="02020603050405020304" pitchFamily="18" charset="0"/>
                <a:cs typeface="Times New Roman" panose="02020603050405020304" pitchFamily="18" charset="0"/>
              </a:rPr>
              <a:t> </a:t>
            </a:r>
            <a:endParaRPr lang="en-IN"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9809BDC-CF50-9C8B-8D65-60D21BAA40C8}"/>
              </a:ext>
            </a:extLst>
          </p:cNvPr>
          <p:cNvPicPr>
            <a:picLocks noChangeAspect="1"/>
          </p:cNvPicPr>
          <p:nvPr/>
        </p:nvPicPr>
        <p:blipFill>
          <a:blip r:embed="rId2">
            <a:extLst>
              <a:ext uri="{28A0092B-C50C-407E-A947-70E740481C1C}">
                <a14:useLocalDpi xmlns:a14="http://schemas.microsoft.com/office/drawing/2010/main" val="0"/>
              </a:ext>
            </a:extLst>
          </a:blip>
          <a:srcRect b="22283"/>
          <a:stretch>
            <a:fillRect/>
          </a:stretch>
        </p:blipFill>
        <p:spPr>
          <a:xfrm>
            <a:off x="1045881" y="2083810"/>
            <a:ext cx="10100237" cy="4075921"/>
          </a:xfrm>
          <a:prstGeom prst="rect">
            <a:avLst/>
          </a:prstGeom>
        </p:spPr>
      </p:pic>
    </p:spTree>
    <p:extLst>
      <p:ext uri="{BB962C8B-B14F-4D97-AF65-F5344CB8AC3E}">
        <p14:creationId xmlns:p14="http://schemas.microsoft.com/office/powerpoint/2010/main" val="1574889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EE8AE-AA5B-5721-3E92-A913CD0C80B0}"/>
              </a:ext>
            </a:extLst>
          </p:cNvPr>
          <p:cNvSpPr>
            <a:spLocks noGrp="1"/>
          </p:cNvSpPr>
          <p:nvPr>
            <p:ph type="title"/>
          </p:nvPr>
        </p:nvSpPr>
        <p:spPr>
          <a:xfrm>
            <a:off x="533398" y="0"/>
            <a:ext cx="10515600" cy="1048871"/>
          </a:xfrm>
        </p:spPr>
        <p:txBody>
          <a:bodyPr>
            <a:normAutofit/>
          </a:bodyPr>
          <a:lstStyle/>
          <a:p>
            <a:r>
              <a:rPr lang="en-US" sz="4000" b="1" dirty="0">
                <a:latin typeface="Times New Roman" panose="02020603050405020304" pitchFamily="18" charset="0"/>
                <a:cs typeface="Times New Roman" panose="02020603050405020304" pitchFamily="18" charset="0"/>
              </a:rPr>
              <a:t>Technologies &amp; Methodologies:</a:t>
            </a:r>
            <a:endParaRPr lang="en-IN" sz="40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FEC84C02-2480-47B4-B548-DD7A402C6F6D}"/>
              </a:ext>
            </a:extLst>
          </p:cNvPr>
          <p:cNvSpPr>
            <a:spLocks noGrp="1" noChangeArrowheads="1"/>
          </p:cNvSpPr>
          <p:nvPr>
            <p:ph idx="1"/>
          </p:nvPr>
        </p:nvSpPr>
        <p:spPr bwMode="auto">
          <a:xfrm>
            <a:off x="533398" y="1590502"/>
            <a:ext cx="10986246" cy="4513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latin typeface="Times New Roman" panose="02020603050405020304" pitchFamily="18" charset="0"/>
                <a:cs typeface="Times New Roman" panose="02020603050405020304" pitchFamily="18" charset="0"/>
              </a:rPr>
              <a:t>Backend:</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Python</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Flask: Web framework &amp; API endpoints</a:t>
            </a:r>
          </a:p>
          <a:p>
            <a:pPr>
              <a:buFont typeface="Wingdings" panose="05000000000000000000" pitchFamily="2" charset="2"/>
              <a:buChar char="q"/>
            </a:pPr>
            <a:r>
              <a:rPr lang="en-IN" dirty="0" err="1">
                <a:latin typeface="Times New Roman" panose="02020603050405020304" pitchFamily="18" charset="0"/>
                <a:cs typeface="Times New Roman" panose="02020603050405020304" pitchFamily="18" charset="0"/>
              </a:rPr>
              <a:t>SimpleITK</a:t>
            </a:r>
            <a:r>
              <a:rPr lang="en-IN" dirty="0">
                <a:latin typeface="Times New Roman" panose="02020603050405020304" pitchFamily="18" charset="0"/>
                <a:cs typeface="Times New Roman" panose="02020603050405020304" pitchFamily="18" charset="0"/>
              </a:rPr>
              <a:t>: CT scan reading (.</a:t>
            </a:r>
            <a:r>
              <a:rPr lang="en-IN" dirty="0" err="1">
                <a:latin typeface="Times New Roman" panose="02020603050405020304" pitchFamily="18" charset="0"/>
                <a:cs typeface="Times New Roman" panose="02020603050405020304" pitchFamily="18" charset="0"/>
              </a:rPr>
              <a:t>mhd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zraw</a:t>
            </a:r>
            <a:r>
              <a:rPr lang="en-IN" dirty="0">
                <a:latin typeface="Times New Roman" panose="02020603050405020304" pitchFamily="18" charset="0"/>
                <a:cs typeface="Times New Roman" panose="02020603050405020304" pitchFamily="18" charset="0"/>
              </a:rPr>
              <a:t>)</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NumPy, SciPy: Numerical operations</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scikit-image: Image segmentation &amp; morphology</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Pandas: Annotation (CSV) handling</a:t>
            </a:r>
          </a:p>
          <a:p>
            <a:pPr>
              <a:buFont typeface="Wingdings" panose="05000000000000000000" pitchFamily="2" charset="2"/>
              <a:buChar char="q"/>
            </a:pPr>
            <a:r>
              <a:rPr lang="en-IN" dirty="0" err="1">
                <a:latin typeface="Times New Roman" panose="02020603050405020304" pitchFamily="18" charset="0"/>
                <a:cs typeface="Times New Roman" panose="02020603050405020304" pitchFamily="18" charset="0"/>
              </a:rPr>
              <a:t>PyVista</a:t>
            </a:r>
            <a:r>
              <a:rPr lang="en-IN" dirty="0">
                <a:latin typeface="Times New Roman" panose="02020603050405020304" pitchFamily="18" charset="0"/>
                <a:cs typeface="Times New Roman" panose="02020603050405020304" pitchFamily="18" charset="0"/>
              </a:rPr>
              <a:t> / VTK: 3D mesh generation &amp; GLTF export</a:t>
            </a:r>
          </a:p>
          <a:p>
            <a:pPr eaLnBrk="0" fontAlgn="base" hangingPunct="0">
              <a:lnSpc>
                <a:spcPts val="3500"/>
              </a:lnSpc>
              <a:spcBef>
                <a:spcPct val="0"/>
              </a:spcBef>
              <a:spcAft>
                <a:spcPct val="0"/>
              </a:spcAft>
            </a:pPr>
            <a:endPar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1339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B8A0D-29AC-C319-70F1-800FAC5285A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Technologies &amp; Methodologies:</a:t>
            </a:r>
            <a:endParaRPr lang="en-IN" dirty="0"/>
          </a:p>
        </p:txBody>
      </p:sp>
      <p:sp>
        <p:nvSpPr>
          <p:cNvPr id="3" name="Content Placeholder 2">
            <a:extLst>
              <a:ext uri="{FF2B5EF4-FFF2-40B4-BE49-F238E27FC236}">
                <a16:creationId xmlns:a16="http://schemas.microsoft.com/office/drawing/2014/main" id="{921B667F-5CAB-6432-E8D1-7D52DBBDD41C}"/>
              </a:ext>
            </a:extLst>
          </p:cNvPr>
          <p:cNvSpPr>
            <a:spLocks noGrp="1"/>
          </p:cNvSpPr>
          <p:nvPr>
            <p:ph idx="1"/>
          </p:nvPr>
        </p:nvSpPr>
        <p:spPr/>
        <p:txBody>
          <a:bodyPr>
            <a:normAutofit/>
          </a:bodyPr>
          <a:lstStyle/>
          <a:p>
            <a:r>
              <a:rPr lang="en-IN" b="1" dirty="0">
                <a:latin typeface="Times New Roman" panose="02020603050405020304" pitchFamily="18" charset="0"/>
                <a:cs typeface="Times New Roman" panose="02020603050405020304" pitchFamily="18" charset="0"/>
              </a:rPr>
              <a:t>Frontend:</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HTML, JavaScript</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Three.js: 3D model rendering (GLTF viewer)</a:t>
            </a:r>
          </a:p>
          <a:p>
            <a:pPr marL="0" indent="0">
              <a:buNone/>
            </a:pP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Visualization &amp; Output:</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GLTF (3D Lung Models)</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JSON (Anomaly Metrics &amp; Results)</a:t>
            </a:r>
          </a:p>
          <a:p>
            <a:pPr marL="0" indent="0">
              <a:buNone/>
            </a:pPr>
            <a:endParaRPr lang="en-IN" dirty="0"/>
          </a:p>
        </p:txBody>
      </p:sp>
    </p:spTree>
    <p:extLst>
      <p:ext uri="{BB962C8B-B14F-4D97-AF65-F5344CB8AC3E}">
        <p14:creationId xmlns:p14="http://schemas.microsoft.com/office/powerpoint/2010/main" val="4012772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BEDE5A-0F40-401A-BBBD-762FD5AF3D80}"/>
              </a:ext>
            </a:extLst>
          </p:cNvPr>
          <p:cNvSpPr txBox="1"/>
          <p:nvPr/>
        </p:nvSpPr>
        <p:spPr>
          <a:xfrm>
            <a:off x="475861" y="270588"/>
            <a:ext cx="11103429"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Implementation:</a:t>
            </a:r>
            <a:endParaRPr lang="en-US" sz="3200" dirty="0">
              <a:latin typeface="Times New Roman" panose="02020603050405020304" pitchFamily="18" charset="0"/>
              <a:cs typeface="Times New Roman" panose="02020603050405020304" pitchFamily="18" charset="0"/>
            </a:endParaRPr>
          </a:p>
        </p:txBody>
      </p:sp>
      <p:sp>
        <p:nvSpPr>
          <p:cNvPr id="8" name="AutoShape 6">
            <a:extLst>
              <a:ext uri="{FF2B5EF4-FFF2-40B4-BE49-F238E27FC236}">
                <a16:creationId xmlns:a16="http://schemas.microsoft.com/office/drawing/2014/main" id="{D4D7249D-005E-C167-D613-A833D45497ED}"/>
              </a:ext>
            </a:extLst>
          </p:cNvPr>
          <p:cNvSpPr>
            <a:spLocks noChangeAspect="1" noChangeArrowheads="1"/>
          </p:cNvSpPr>
          <p:nvPr/>
        </p:nvSpPr>
        <p:spPr bwMode="auto">
          <a:xfrm>
            <a:off x="5943599" y="3276599"/>
            <a:ext cx="3760237" cy="376023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7F677FAA-C178-A499-DBF7-1D1604C0EF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 y="1081962"/>
            <a:ext cx="11820698" cy="5505450"/>
          </a:xfrm>
          <a:prstGeom prst="rect">
            <a:avLst/>
          </a:prstGeom>
        </p:spPr>
      </p:pic>
    </p:spTree>
    <p:extLst>
      <p:ext uri="{BB962C8B-B14F-4D97-AF65-F5344CB8AC3E}">
        <p14:creationId xmlns:p14="http://schemas.microsoft.com/office/powerpoint/2010/main" val="2489452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BEDE5A-0F40-401A-BBBD-762FD5AF3D80}"/>
              </a:ext>
            </a:extLst>
          </p:cNvPr>
          <p:cNvSpPr txBox="1"/>
          <p:nvPr/>
        </p:nvSpPr>
        <p:spPr>
          <a:xfrm>
            <a:off x="475861" y="270588"/>
            <a:ext cx="11103429"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Implementation:</a:t>
            </a:r>
            <a:endParaRPr lang="en-US" sz="3200" dirty="0">
              <a:latin typeface="Times New Roman" panose="02020603050405020304" pitchFamily="18" charset="0"/>
              <a:cs typeface="Times New Roman" panose="02020603050405020304" pitchFamily="18" charset="0"/>
            </a:endParaRPr>
          </a:p>
        </p:txBody>
      </p:sp>
      <p:sp>
        <p:nvSpPr>
          <p:cNvPr id="8" name="AutoShape 6">
            <a:extLst>
              <a:ext uri="{FF2B5EF4-FFF2-40B4-BE49-F238E27FC236}">
                <a16:creationId xmlns:a16="http://schemas.microsoft.com/office/drawing/2014/main" id="{D4D7249D-005E-C167-D613-A833D45497ED}"/>
              </a:ext>
            </a:extLst>
          </p:cNvPr>
          <p:cNvSpPr>
            <a:spLocks noChangeAspect="1" noChangeArrowheads="1"/>
          </p:cNvSpPr>
          <p:nvPr/>
        </p:nvSpPr>
        <p:spPr bwMode="auto">
          <a:xfrm>
            <a:off x="5943599" y="3276599"/>
            <a:ext cx="3760237" cy="376023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33498075-3B4A-E228-709E-7F61A9D1FA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8226" y="855363"/>
            <a:ext cx="9351818" cy="5732050"/>
          </a:xfrm>
          <a:prstGeom prst="rect">
            <a:avLst/>
          </a:prstGeom>
        </p:spPr>
      </p:pic>
    </p:spTree>
    <p:extLst>
      <p:ext uri="{BB962C8B-B14F-4D97-AF65-F5344CB8AC3E}">
        <p14:creationId xmlns:p14="http://schemas.microsoft.com/office/powerpoint/2010/main" val="3898614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BEDE5A-0F40-401A-BBBD-762FD5AF3D80}"/>
              </a:ext>
            </a:extLst>
          </p:cNvPr>
          <p:cNvSpPr txBox="1"/>
          <p:nvPr/>
        </p:nvSpPr>
        <p:spPr>
          <a:xfrm>
            <a:off x="475861" y="270588"/>
            <a:ext cx="11103429"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Implementation:</a:t>
            </a:r>
            <a:endParaRPr lang="en-US" sz="3200" dirty="0">
              <a:latin typeface="Times New Roman" panose="02020603050405020304" pitchFamily="18" charset="0"/>
              <a:cs typeface="Times New Roman" panose="02020603050405020304" pitchFamily="18" charset="0"/>
            </a:endParaRPr>
          </a:p>
        </p:txBody>
      </p:sp>
      <p:sp>
        <p:nvSpPr>
          <p:cNvPr id="8" name="AutoShape 6">
            <a:extLst>
              <a:ext uri="{FF2B5EF4-FFF2-40B4-BE49-F238E27FC236}">
                <a16:creationId xmlns:a16="http://schemas.microsoft.com/office/drawing/2014/main" id="{D4D7249D-005E-C167-D613-A833D45497ED}"/>
              </a:ext>
            </a:extLst>
          </p:cNvPr>
          <p:cNvSpPr>
            <a:spLocks noChangeAspect="1" noChangeArrowheads="1"/>
          </p:cNvSpPr>
          <p:nvPr/>
        </p:nvSpPr>
        <p:spPr bwMode="auto">
          <a:xfrm>
            <a:off x="5943599" y="3276599"/>
            <a:ext cx="3760237" cy="376023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2468A763-CB79-411E-D1D4-6A8D14779C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3041" y="855363"/>
            <a:ext cx="6450654" cy="5732050"/>
          </a:xfrm>
          <a:prstGeom prst="rect">
            <a:avLst/>
          </a:prstGeom>
        </p:spPr>
      </p:pic>
    </p:spTree>
    <p:extLst>
      <p:ext uri="{BB962C8B-B14F-4D97-AF65-F5344CB8AC3E}">
        <p14:creationId xmlns:p14="http://schemas.microsoft.com/office/powerpoint/2010/main" val="375266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BEDE5A-0F40-401A-BBBD-762FD5AF3D80}"/>
              </a:ext>
            </a:extLst>
          </p:cNvPr>
          <p:cNvSpPr txBox="1"/>
          <p:nvPr/>
        </p:nvSpPr>
        <p:spPr>
          <a:xfrm>
            <a:off x="475861" y="270588"/>
            <a:ext cx="11103429"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Implementation:</a:t>
            </a:r>
            <a:endParaRPr lang="en-US" sz="3200" dirty="0">
              <a:latin typeface="Times New Roman" panose="02020603050405020304" pitchFamily="18" charset="0"/>
              <a:cs typeface="Times New Roman" panose="02020603050405020304" pitchFamily="18" charset="0"/>
            </a:endParaRPr>
          </a:p>
        </p:txBody>
      </p:sp>
      <p:sp>
        <p:nvSpPr>
          <p:cNvPr id="8" name="AutoShape 6">
            <a:extLst>
              <a:ext uri="{FF2B5EF4-FFF2-40B4-BE49-F238E27FC236}">
                <a16:creationId xmlns:a16="http://schemas.microsoft.com/office/drawing/2014/main" id="{D4D7249D-005E-C167-D613-A833D45497ED}"/>
              </a:ext>
            </a:extLst>
          </p:cNvPr>
          <p:cNvSpPr>
            <a:spLocks noChangeAspect="1" noChangeArrowheads="1"/>
          </p:cNvSpPr>
          <p:nvPr/>
        </p:nvSpPr>
        <p:spPr bwMode="auto">
          <a:xfrm>
            <a:off x="5943599" y="3276599"/>
            <a:ext cx="3760237" cy="376023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DDC7CC0C-0F2E-8CEF-93D1-53308DFC26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694" y="931025"/>
            <a:ext cx="11712633" cy="5245332"/>
          </a:xfrm>
          <a:prstGeom prst="rect">
            <a:avLst/>
          </a:prstGeom>
        </p:spPr>
      </p:pic>
    </p:spTree>
    <p:extLst>
      <p:ext uri="{BB962C8B-B14F-4D97-AF65-F5344CB8AC3E}">
        <p14:creationId xmlns:p14="http://schemas.microsoft.com/office/powerpoint/2010/main" val="3792922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BEDE5A-0F40-401A-BBBD-762FD5AF3D80}"/>
              </a:ext>
            </a:extLst>
          </p:cNvPr>
          <p:cNvSpPr txBox="1"/>
          <p:nvPr/>
        </p:nvSpPr>
        <p:spPr>
          <a:xfrm>
            <a:off x="475861" y="270588"/>
            <a:ext cx="11103429"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Implementation:</a:t>
            </a:r>
            <a:endParaRPr lang="en-US" sz="3200" dirty="0">
              <a:latin typeface="Times New Roman" panose="02020603050405020304" pitchFamily="18" charset="0"/>
              <a:cs typeface="Times New Roman" panose="02020603050405020304" pitchFamily="18" charset="0"/>
            </a:endParaRPr>
          </a:p>
        </p:txBody>
      </p:sp>
      <p:sp>
        <p:nvSpPr>
          <p:cNvPr id="8" name="AutoShape 6">
            <a:extLst>
              <a:ext uri="{FF2B5EF4-FFF2-40B4-BE49-F238E27FC236}">
                <a16:creationId xmlns:a16="http://schemas.microsoft.com/office/drawing/2014/main" id="{D4D7249D-005E-C167-D613-A833D45497ED}"/>
              </a:ext>
            </a:extLst>
          </p:cNvPr>
          <p:cNvSpPr>
            <a:spLocks noChangeAspect="1" noChangeArrowheads="1"/>
          </p:cNvSpPr>
          <p:nvPr/>
        </p:nvSpPr>
        <p:spPr bwMode="auto">
          <a:xfrm>
            <a:off x="5943599" y="3276599"/>
            <a:ext cx="3760237" cy="376023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64BB8AE4-D1DE-A205-9C4D-97C1F7C659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6595" y="989214"/>
            <a:ext cx="3867004" cy="5527965"/>
          </a:xfrm>
          <a:prstGeom prst="rect">
            <a:avLst/>
          </a:prstGeom>
        </p:spPr>
      </p:pic>
    </p:spTree>
    <p:extLst>
      <p:ext uri="{BB962C8B-B14F-4D97-AF65-F5344CB8AC3E}">
        <p14:creationId xmlns:p14="http://schemas.microsoft.com/office/powerpoint/2010/main" val="785734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EE8AE-AA5B-5721-3E92-A913CD0C80B0}"/>
              </a:ext>
            </a:extLst>
          </p:cNvPr>
          <p:cNvSpPr>
            <a:spLocks noGrp="1"/>
          </p:cNvSpPr>
          <p:nvPr>
            <p:ph type="title"/>
          </p:nvPr>
        </p:nvSpPr>
        <p:spPr>
          <a:xfrm>
            <a:off x="838200" y="0"/>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Conclusion:</a:t>
            </a:r>
            <a:endParaRPr lang="en-IN" sz="4000" b="1"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43E62A71-C587-4E91-9E8D-9AB8C086D076}"/>
              </a:ext>
            </a:extLst>
          </p:cNvPr>
          <p:cNvSpPr txBox="1">
            <a:spLocks/>
          </p:cNvSpPr>
          <p:nvPr/>
        </p:nvSpPr>
        <p:spPr>
          <a:xfrm>
            <a:off x="838200" y="1441846"/>
            <a:ext cx="10084724" cy="49296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endParaRPr lang="en-IN" sz="16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A2786D06-9714-438C-B67F-4DEC41D1AB3B}"/>
              </a:ext>
            </a:extLst>
          </p:cNvPr>
          <p:cNvSpPr/>
          <p:nvPr/>
        </p:nvSpPr>
        <p:spPr>
          <a:xfrm>
            <a:off x="838199" y="1172407"/>
            <a:ext cx="10515601" cy="3246530"/>
          </a:xfrm>
          <a:prstGeom prst="rect">
            <a:avLst/>
          </a:prstGeom>
        </p:spPr>
        <p:txBody>
          <a:bodyPr wrap="square">
            <a:spAutoFit/>
          </a:bodyPr>
          <a:lstStyle/>
          <a:p>
            <a:pPr marL="342900" indent="-3429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Manual CT scan analysis is slow and error-prone.</a:t>
            </a:r>
          </a:p>
          <a:p>
            <a:pPr marL="342900" indent="-3429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automates lung segmentation and anomaly detection.</a:t>
            </a:r>
          </a:p>
          <a:p>
            <a:pPr marL="342900" indent="-3429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3D visualization makes diagnosis more accurate and interactive.</a:t>
            </a:r>
          </a:p>
          <a:p>
            <a:pPr marL="342900" indent="-3429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Reduces workload of radiologists and speeds up evaluation.</a:t>
            </a:r>
          </a:p>
          <a:p>
            <a:pPr marL="342900" indent="-3429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Provides a scalable solution for healthcare, research, and education.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2212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EE8AE-AA5B-5721-3E92-A913CD0C80B0}"/>
              </a:ext>
            </a:extLst>
          </p:cNvPr>
          <p:cNvSpPr>
            <a:spLocks noGrp="1"/>
          </p:cNvSpPr>
          <p:nvPr>
            <p:ph type="title"/>
          </p:nvPr>
        </p:nvSpPr>
        <p:spPr>
          <a:xfrm>
            <a:off x="838200" y="0"/>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References:</a:t>
            </a:r>
            <a:endParaRPr lang="en-IN" sz="4000" b="1"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43E62A71-C587-4E91-9E8D-9AB8C086D076}"/>
              </a:ext>
            </a:extLst>
          </p:cNvPr>
          <p:cNvSpPr txBox="1">
            <a:spLocks/>
          </p:cNvSpPr>
          <p:nvPr/>
        </p:nvSpPr>
        <p:spPr>
          <a:xfrm>
            <a:off x="838200" y="1441846"/>
            <a:ext cx="10084724" cy="49296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endParaRPr lang="en-IN" sz="16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A2786D06-9714-438C-B67F-4DEC41D1AB3B}"/>
              </a:ext>
            </a:extLst>
          </p:cNvPr>
          <p:cNvSpPr/>
          <p:nvPr/>
        </p:nvSpPr>
        <p:spPr>
          <a:xfrm>
            <a:off x="838199" y="952278"/>
            <a:ext cx="10515601" cy="6181500"/>
          </a:xfrm>
          <a:prstGeom prst="rect">
            <a:avLst/>
          </a:prstGeom>
        </p:spPr>
        <p:txBody>
          <a:bodyPr wrap="square">
            <a:spAutoFit/>
          </a:bodyPr>
          <a:lstStyle/>
          <a:p>
            <a:r>
              <a:rPr lang="en-IN" sz="2800" b="1" dirty="0">
                <a:latin typeface="Times New Roman" panose="02020603050405020304" pitchFamily="18" charset="0"/>
                <a:cs typeface="Times New Roman" panose="02020603050405020304" pitchFamily="18" charset="0"/>
              </a:rPr>
              <a:t>[1] </a:t>
            </a:r>
            <a:r>
              <a:rPr lang="en-IN" sz="2800" dirty="0">
                <a:latin typeface="Times New Roman" panose="02020603050405020304" pitchFamily="18" charset="0"/>
                <a:cs typeface="Times New Roman" panose="02020603050405020304" pitchFamily="18" charset="0"/>
              </a:rPr>
              <a:t>Mansoor, A., Bagci, U., Xu, Z., Foster, B., Olivier, K. N., </a:t>
            </a:r>
            <a:r>
              <a:rPr lang="en-IN" sz="2800" dirty="0" err="1">
                <a:latin typeface="Times New Roman" panose="02020603050405020304" pitchFamily="18" charset="0"/>
                <a:cs typeface="Times New Roman" panose="02020603050405020304" pitchFamily="18" charset="0"/>
              </a:rPr>
              <a:t>Elinoff</a:t>
            </a:r>
            <a:r>
              <a:rPr lang="en-IN" sz="2800" dirty="0">
                <a:latin typeface="Times New Roman" panose="02020603050405020304" pitchFamily="18" charset="0"/>
                <a:cs typeface="Times New Roman" panose="02020603050405020304" pitchFamily="18" charset="0"/>
              </a:rPr>
              <a:t>, J. M., &amp; Mollura, D. J., </a:t>
            </a:r>
            <a:r>
              <a:rPr lang="en-IN" sz="2800" i="1" dirty="0">
                <a:latin typeface="Times New Roman" panose="02020603050405020304" pitchFamily="18" charset="0"/>
                <a:cs typeface="Times New Roman" panose="02020603050405020304" pitchFamily="18" charset="0"/>
              </a:rPr>
              <a:t>Segmentation and Image Analysis of Abnormal Lungs at CT</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Radiographics</a:t>
            </a:r>
            <a:r>
              <a:rPr lang="en-IN" sz="2800" dirty="0">
                <a:latin typeface="Times New Roman" panose="02020603050405020304" pitchFamily="18" charset="0"/>
                <a:cs typeface="Times New Roman" panose="02020603050405020304" pitchFamily="18" charset="0"/>
              </a:rPr>
              <a:t>, 2015.</a:t>
            </a: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[2] </a:t>
            </a:r>
            <a:r>
              <a:rPr lang="en-IN" sz="2800" dirty="0">
                <a:latin typeface="Times New Roman" panose="02020603050405020304" pitchFamily="18" charset="0"/>
                <a:cs typeface="Times New Roman" panose="02020603050405020304" pitchFamily="18" charset="0"/>
              </a:rPr>
              <a:t>Tan, J., Jing, L., Huo, Y., Tian, Y., &amp; Akin, O., </a:t>
            </a:r>
            <a:r>
              <a:rPr lang="en-IN" sz="2800" i="1" dirty="0">
                <a:latin typeface="Times New Roman" panose="02020603050405020304" pitchFamily="18" charset="0"/>
                <a:cs typeface="Times New Roman" panose="02020603050405020304" pitchFamily="18" charset="0"/>
              </a:rPr>
              <a:t>LGAN: Lung Segmentation in CT Scans Using Generative Adversarial Network</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arXiv</a:t>
            </a:r>
            <a:r>
              <a:rPr lang="en-IN" sz="2800" dirty="0">
                <a:latin typeface="Times New Roman" panose="02020603050405020304" pitchFamily="18" charset="0"/>
                <a:cs typeface="Times New Roman" panose="02020603050405020304" pitchFamily="18" charset="0"/>
              </a:rPr>
              <a:t> preprint arXiv:1901.03473, 2019.</a:t>
            </a: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[3] </a:t>
            </a:r>
            <a:r>
              <a:rPr lang="en-IN" sz="2800" dirty="0">
                <a:latin typeface="Times New Roman" panose="02020603050405020304" pitchFamily="18" charset="0"/>
                <a:cs typeface="Times New Roman" panose="02020603050405020304" pitchFamily="18" charset="0"/>
              </a:rPr>
              <a:t>Gao, Z., et al., </a:t>
            </a:r>
            <a:r>
              <a:rPr lang="en-IN" sz="2800" i="1" dirty="0">
                <a:latin typeface="Times New Roman" panose="02020603050405020304" pitchFamily="18" charset="0"/>
                <a:cs typeface="Times New Roman" panose="02020603050405020304" pitchFamily="18" charset="0"/>
              </a:rPr>
              <a:t>Anomaly Detection Scheme for Lung CT Images</a:t>
            </a:r>
            <a:r>
              <a:rPr lang="en-IN" sz="2800" dirty="0">
                <a:latin typeface="Times New Roman" panose="02020603050405020304" pitchFamily="18" charset="0"/>
                <a:cs typeface="Times New Roman" panose="02020603050405020304" pitchFamily="18" charset="0"/>
              </a:rPr>
              <a:t>, Journal of Healthcare Engineering, 2024.</a:t>
            </a: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[4] </a:t>
            </a:r>
            <a:r>
              <a:rPr lang="en-IN" sz="2800" dirty="0">
                <a:latin typeface="Times New Roman" panose="02020603050405020304" pitchFamily="18" charset="0"/>
                <a:cs typeface="Times New Roman" panose="02020603050405020304" pitchFamily="18" charset="0"/>
              </a:rPr>
              <a:t>Lee, J. H., et al., </a:t>
            </a:r>
            <a:r>
              <a:rPr lang="en-IN" sz="2800" i="1" dirty="0">
                <a:latin typeface="Times New Roman" panose="02020603050405020304" pitchFamily="18" charset="0"/>
                <a:cs typeface="Times New Roman" panose="02020603050405020304" pitchFamily="18" charset="0"/>
              </a:rPr>
              <a:t>Improved Unsupervised 3D Lung Lesion Detection in Low-Dose CT</a:t>
            </a:r>
            <a:r>
              <a:rPr lang="en-IN" sz="2800" dirty="0">
                <a:latin typeface="Times New Roman" panose="02020603050405020304" pitchFamily="18" charset="0"/>
                <a:cs typeface="Times New Roman" panose="02020603050405020304" pitchFamily="18" charset="0"/>
              </a:rPr>
              <a:t>, Medical Image Analysis, Elsevier, 2025</a:t>
            </a:r>
          </a:p>
          <a:p>
            <a:pPr>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9881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B1E2B-A43B-436A-A3B7-D04A5DEB5A74}"/>
              </a:ext>
            </a:extLst>
          </p:cNvPr>
          <p:cNvSpPr>
            <a:spLocks noGrp="1"/>
          </p:cNvSpPr>
          <p:nvPr>
            <p:ph type="title"/>
          </p:nvPr>
        </p:nvSpPr>
        <p:spPr>
          <a:xfrm>
            <a:off x="838200" y="2766218"/>
            <a:ext cx="10515600" cy="1325563"/>
          </a:xfrm>
        </p:spPr>
        <p:txBody>
          <a:bodyPr/>
          <a:lstStyle/>
          <a:p>
            <a:pPr algn="ctr"/>
            <a:r>
              <a:rPr lang="en-IN"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2181138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1715</TotalTime>
  <Words>927</Words>
  <Application>Microsoft Office PowerPoint</Application>
  <PresentationFormat>Widescreen</PresentationFormat>
  <Paragraphs>119</Paragraphs>
  <Slides>19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Arial</vt:lpstr>
      <vt:lpstr>Calibri</vt:lpstr>
      <vt:lpstr>Calibri Light</vt:lpstr>
      <vt:lpstr>Times New Roman</vt:lpstr>
      <vt:lpstr>Wingdings</vt:lpstr>
      <vt:lpstr>Office Theme</vt:lpstr>
      <vt:lpstr>1_Office Theme</vt:lpstr>
      <vt:lpstr>PowerPoint Presentation</vt:lpstr>
      <vt:lpstr>Presentation Outline:</vt:lpstr>
      <vt:lpstr>Introduction:</vt:lpstr>
      <vt:lpstr>Sustainable Development Goal:</vt:lpstr>
      <vt:lpstr>PowerPoint Presentation</vt:lpstr>
      <vt:lpstr>Limitations in existing systems: </vt:lpstr>
      <vt:lpstr>Problem Statement:</vt:lpstr>
      <vt:lpstr>System Design:</vt:lpstr>
      <vt:lpstr>PowerPoint Presentation</vt:lpstr>
      <vt:lpstr>Technologies &amp; Methodologies:</vt:lpstr>
      <vt:lpstr>Technologies &amp; Methodologies:</vt:lpstr>
      <vt:lpstr>PowerPoint Presentation</vt:lpstr>
      <vt:lpstr>PowerPoint Presentation</vt:lpstr>
      <vt:lpstr>PowerPoint Presentation</vt:lpstr>
      <vt:lpstr>PowerPoint Presentation</vt:lpstr>
      <vt:lpstr>PowerPoint Presentation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Makarand Panchal</dc:creator>
  <cp:lastModifiedBy>Makarand Panchal</cp:lastModifiedBy>
  <cp:revision>67</cp:revision>
  <dcterms:created xsi:type="dcterms:W3CDTF">2025-07-09T16:36:38Z</dcterms:created>
  <dcterms:modified xsi:type="dcterms:W3CDTF">2025-10-10T05:05:45Z</dcterms:modified>
</cp:coreProperties>
</file>